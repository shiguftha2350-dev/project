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8" r:id="rId4"/>
    <p:sldId id="258" r:id="rId5"/>
    <p:sldId id="259" r:id="rId6"/>
    <p:sldId id="260" r:id="rId7"/>
    <p:sldId id="261" r:id="rId8"/>
    <p:sldId id="264" r:id="rId9"/>
    <p:sldId id="265" r:id="rId10"/>
    <p:sldId id="266" r:id="rId11"/>
    <p:sldId id="267" r:id="rId12"/>
    <p:sldId id="26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1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050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(about 15 seconds): Good morning. I am [your name]. My capstone project is UptimeShield: an insurance platform that pays a business automatically when an online service it depends on, like a cloud host or a payment gateway, goes down for too long. I will cover the problem, the solution, how it works, how it is built, and a quick look at the product.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(about 40 seconds): Every online business depends on services it does not control: a cloud host, a payment gateway, a login service. When one of them fails, sales stop immediately and the business cannot fix it. Normal insurance is slow because the business must prove its loss. That is the gap. This is also a real market: in August 2026 AIG and Parametrix launched cover for cloud outages. (Sources: Insurtech Insights, 14 Aug 2026; FinTech Global, 27 Jan 2026.)</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B1B8C-C039-90E1-9A62-5ED21FBA61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46C93-B27F-979C-0520-C127660D7CD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4384311-0F3E-9348-9D43-89B82921A743}"/>
              </a:ext>
            </a:extLst>
          </p:cNvPr>
          <p:cNvSpPr>
            <a:spLocks noGrp="1"/>
          </p:cNvSpPr>
          <p:nvPr>
            <p:ph type="body" sz="quarter" idx="3"/>
          </p:nvPr>
        </p:nvSpPr>
        <p:spPr/>
        <p:txBody>
          <a:bodyPr/>
          <a:lstStyle/>
          <a:p>
            <a:r>
              <a:t>SCRIPT (about 45 seconds): UptimeShield is parametric insurance. That means we agree three things up front: how long an outage must last to count, how much we pay for every ten minutes, and the maximum payout. Then the platform records outages, checks them against those rules, and moves the claim to payment. No long investigation. One important point: an outage alone does not guarantee payment. It must be resolved, it must pass the limit, and the settlement must pass its checks.</a:t>
            </a:r>
          </a:p>
        </p:txBody>
      </p:sp>
      <p:sp>
        <p:nvSpPr>
          <p:cNvPr id="4" name="Slide Number Placeholder 3">
            <a:extLst>
              <a:ext uri="{FF2B5EF4-FFF2-40B4-BE49-F238E27FC236}">
                <a16:creationId xmlns:a16="http://schemas.microsoft.com/office/drawing/2014/main" id="{31203268-7ECE-7B96-31AD-14E8C60BE7DA}"/>
              </a:ext>
            </a:extLst>
          </p:cNvPr>
          <p:cNvSpPr>
            <a:spLocks noGrp="1"/>
          </p:cNvSpPr>
          <p:nvPr>
            <p:ph type="sldNum" sz="quarter" idx="5"/>
          </p:nvPr>
        </p:nvSpPr>
        <p:spPr/>
      </p:sp>
    </p:spTree>
    <p:extLst>
      <p:ext uri="{BB962C8B-B14F-4D97-AF65-F5344CB8AC3E}">
        <p14:creationId xmlns:p14="http://schemas.microsoft.com/office/powerpoint/2010/main" val="2421914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(about 45 seconds): UptimeShield is parametric insurance. That means we agree three things up front: how long an outage must last to count, how much we pay for every ten minutes, and the maximum payout. Then the platform records outages, checks them against those rules, and moves the claim to payment. No long investigation. One important point: an outage alone does not guarantee payment. It must be resolved, it must pass the limit, and the settlement must pass its checks.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(about 40 seconds): Here is the journey. The business registers and lists its dependencies. Underwriting creates a quote and approves it, and a policy is issued. If a provider goes down, the monitoring team records the outage. When it is resolved, the trigger service checks the duration against the policy. If it qualifies, a claim is opened, the settlement team approves the amount, and the business gets a notification. Every step stores a status.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(about 45 seconds): This is the architecture. The Angular app talks only to the API Gateway, which checks the login token. Eureka is the phone book: services find each other by name. There are seven Spring Boot services, each doing one job and each owning its own MySQL database. They call each other through five service-to-service calls, for example the Trigger service asks Monitoring for the outage and Policy for the coverage at the same time. The whole backend is reactive, so it does not block while waiting.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(about 35 seconds): Quickly, the stack. Frontend is Angular with TypeScript, NgRx, RxJS and Tailwind. Backend is Java 17 and Spring Boot 3.5.6 with WebFlux, so it is non-blocking. Data is MySQL, one database per service, with Eureka for discovery and Spring Cloud Gateway as the single entry. Security uses JWT login checked at the gateway. For quality we have unit and repository tests, and Actuator health and metrics for monitoring.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if asked: how do you calculate the payout? Answer: duration is compared with the threshold; if it qualifies, estimate = rate per ten minutes, limited by the payout cap; settlement can never approve more than the estimate.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if asked: what does each service do?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if asked: why separate databases? Answer: each service owns its data, so one service cannot break another; cross-service links are IDs checked through WebClient.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if asked about security: login returns a signed JWT; the gateway validates it before routing. Six roles exist in the token. Be honest: strict per-role permission checks are the next step.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(about 40 seconds): Here are the screens. [Point to each screenshot.] This is the landing page. This is where a business requests a quote and sees its policy. And this is where a claim is evaluated and settled. If you have time, I can show it live: log in, resolve an outage, evaluate it, and see the claim appear. (TIP: replace each box with a screenshot, and edit the captions.)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ver_bg.png"/>
          <p:cNvPicPr>
            <a:picLocks noChangeAspect="1"/>
          </p:cNvPicPr>
          <p:nvPr/>
        </p:nvPicPr>
        <p:blipFill>
          <a:blip r:embed="rId3"/>
          <a:stretch>
            <a:fillRect/>
          </a:stretch>
        </p:blipFill>
        <p:spPr>
          <a:xfrm>
            <a:off x="-243688" y="0"/>
            <a:ext cx="12191695" cy="6858000"/>
          </a:xfrm>
          <a:prstGeom prst="rect">
            <a:avLst/>
          </a:prstGeom>
          <a:ln w="228600" cap="sq" cmpd="thickThin">
            <a:solidFill>
              <a:srgbClr val="000000"/>
            </a:solidFill>
            <a:prstDash val="solid"/>
            <a:miter lim="800000"/>
          </a:ln>
          <a:effectLst>
            <a:innerShdw blurRad="76200">
              <a:srgbClr val="000000"/>
            </a:innerShdw>
          </a:effectLst>
        </p:spPr>
      </p:pic>
      <p:pic>
        <p:nvPicPr>
          <p:cNvPr id="3" name="Picture 2" descr="shield.png"/>
          <p:cNvPicPr>
            <a:picLocks noChangeAspect="1"/>
          </p:cNvPicPr>
          <p:nvPr/>
        </p:nvPicPr>
        <p:blipFill>
          <a:blip r:embed="rId4"/>
          <a:stretch>
            <a:fillRect/>
          </a:stretch>
        </p:blipFill>
        <p:spPr>
          <a:xfrm>
            <a:off x="822960" y="520618"/>
            <a:ext cx="1463040" cy="1463040"/>
          </a:xfrm>
          <a:prstGeom prst="rect">
            <a:avLst/>
          </a:prstGeom>
        </p:spPr>
      </p:pic>
      <p:sp>
        <p:nvSpPr>
          <p:cNvPr id="4" name="Rectangle 3"/>
          <p:cNvSpPr/>
          <p:nvPr/>
        </p:nvSpPr>
        <p:spPr>
          <a:xfrm>
            <a:off x="822960" y="2047076"/>
            <a:ext cx="8229600" cy="1188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6000" b="1" dirty="0" err="1">
                <a:solidFill>
                  <a:srgbClr val="FFFFFF"/>
                </a:solidFill>
                <a:latin typeface="Arial"/>
              </a:rPr>
              <a:t>UptimeShield</a:t>
            </a:r>
            <a:endParaRPr sz="6000" b="1" dirty="0">
              <a:solidFill>
                <a:srgbClr val="FFFFFF"/>
              </a:solidFill>
              <a:latin typeface="Arial"/>
            </a:endParaRPr>
          </a:p>
        </p:txBody>
      </p:sp>
      <p:sp>
        <p:nvSpPr>
          <p:cNvPr id="5" name="Rectangle 4"/>
          <p:cNvSpPr/>
          <p:nvPr/>
        </p:nvSpPr>
        <p:spPr>
          <a:xfrm>
            <a:off x="891786" y="3063240"/>
            <a:ext cx="6482408" cy="1143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lang="en-IN" sz="2200" b="0" dirty="0">
                <a:solidFill>
                  <a:srgbClr val="F8E7EF"/>
                </a:solidFill>
                <a:latin typeface="Arial"/>
              </a:rPr>
              <a:t>Parametric Insurance for Technology Provider Outages</a:t>
            </a:r>
            <a:endParaRPr sz="2200" b="0" dirty="0">
              <a:solidFill>
                <a:srgbClr val="F8E7EF"/>
              </a:solidFill>
              <a:latin typeface="Arial"/>
            </a:endParaRPr>
          </a:p>
        </p:txBody>
      </p:sp>
      <p:sp>
        <p:nvSpPr>
          <p:cNvPr id="6" name="Rectangle 5"/>
          <p:cNvSpPr/>
          <p:nvPr/>
        </p:nvSpPr>
        <p:spPr>
          <a:xfrm>
            <a:off x="822960" y="4572000"/>
            <a:ext cx="8229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600" b="0" dirty="0">
                <a:solidFill>
                  <a:srgbClr val="D9CFD5"/>
                </a:solidFill>
                <a:latin typeface="Arial"/>
              </a:rPr>
              <a:t>Capstone Project  |  </a:t>
            </a:r>
            <a:r>
              <a:rPr lang="en-IN" sz="1600" dirty="0">
                <a:solidFill>
                  <a:srgbClr val="D9CFD5"/>
                </a:solidFill>
                <a:latin typeface="Arial"/>
              </a:rPr>
              <a:t>Alpha Interns</a:t>
            </a:r>
            <a:r>
              <a:rPr sz="1600" b="0" dirty="0">
                <a:solidFill>
                  <a:srgbClr val="D9CFD5"/>
                </a:solidFill>
                <a:latin typeface="Arial"/>
              </a:rPr>
              <a:t>  |</a:t>
            </a:r>
            <a:r>
              <a:rPr lang="en-IN" sz="1600" b="0" dirty="0" err="1">
                <a:solidFill>
                  <a:srgbClr val="D9CFD5"/>
                </a:solidFill>
                <a:latin typeface="Arial"/>
              </a:rPr>
              <a:t>Sk.Shiguftha</a:t>
            </a:r>
            <a:r>
              <a:rPr lang="en-IN" sz="1600" b="0" dirty="0">
                <a:solidFill>
                  <a:srgbClr val="D9CFD5"/>
                </a:solidFill>
                <a:latin typeface="Arial"/>
              </a:rPr>
              <a:t> Shameem</a:t>
            </a:r>
            <a:endParaRPr sz="1600" b="0" dirty="0">
              <a:solidFill>
                <a:srgbClr val="D9CFD5"/>
              </a:solidFill>
              <a:latin typeface="Arial"/>
            </a:endParaRPr>
          </a:p>
        </p:txBody>
      </p:sp>
      <p:sp>
        <p:nvSpPr>
          <p:cNvPr id="7" name="Rectangle 6"/>
          <p:cNvSpPr/>
          <p:nvPr/>
        </p:nvSpPr>
        <p:spPr>
          <a:xfrm>
            <a:off x="822960" y="6126480"/>
            <a:ext cx="100584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lang="en-IN" sz="1100" dirty="0">
                <a:solidFill>
                  <a:srgbClr val="D9CFD5"/>
                </a:solidFill>
                <a:latin typeface="Arial"/>
              </a:rPr>
              <a:t>Hartford Training Program | Hartford India.</a:t>
            </a:r>
            <a:r>
              <a:rPr sz="1100" b="0" dirty="0">
                <a:solidFill>
                  <a:srgbClr val="D9CFD5"/>
                </a:solidFill>
                <a:latin typeface="Arial"/>
              </a:rPr>
              <a:t>.</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47472"/>
            <a:ext cx="10789920" cy="548640"/>
          </a:xfrm>
        </p:spPr>
        <p:txBody>
          <a:bodyPr anchor="ctr"/>
          <a:lstStyle/>
          <a:p>
            <a:pPr algn="l"/>
            <a:r>
              <a:rPr sz="2800" b="1" dirty="0">
                <a:solidFill>
                  <a:srgbClr val="75013F"/>
                </a:solidFill>
                <a:latin typeface="Arial"/>
              </a:rPr>
              <a:t> Problem</a:t>
            </a:r>
            <a:r>
              <a:rPr lang="en-IN" sz="2800" b="1" dirty="0">
                <a:solidFill>
                  <a:srgbClr val="75013F"/>
                </a:solidFill>
                <a:latin typeface="Arial"/>
              </a:rPr>
              <a:t> Statement</a:t>
            </a:r>
            <a:endParaRPr sz="2800" b="1" dirty="0">
              <a:solidFill>
                <a:srgbClr val="75013F"/>
              </a:solidFill>
              <a:latin typeface="Arial"/>
            </a:endParaRPr>
          </a:p>
        </p:txBody>
      </p:sp>
      <p:sp>
        <p:nvSpPr>
          <p:cNvPr id="3" name="Rectangle 2"/>
          <p:cNvSpPr/>
          <p:nvPr/>
        </p:nvSpPr>
        <p:spPr>
          <a:xfrm>
            <a:off x="0" y="0"/>
            <a:ext cx="12191695" cy="109728"/>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4" name="Rectangle 3"/>
          <p:cNvSpPr/>
          <p:nvPr/>
        </p:nvSpPr>
        <p:spPr>
          <a:xfrm>
            <a:off x="548640" y="411480"/>
            <a:ext cx="82296" cy="731520"/>
          </a:xfrm>
          <a:prstGeom prst="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5" name="Rectangle 4"/>
          <p:cNvSpPr/>
          <p:nvPr/>
        </p:nvSpPr>
        <p:spPr>
          <a:xfrm>
            <a:off x="731520" y="868680"/>
            <a:ext cx="10789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lang="en-IN" sz="1400" b="0" dirty="0">
                <a:solidFill>
                  <a:srgbClr val="6B5A64"/>
                </a:solidFill>
                <a:latin typeface="Arial"/>
              </a:rPr>
              <a:t>When a provider goes down, your business goes down</a:t>
            </a:r>
            <a:endParaRPr sz="1400" b="0" dirty="0">
              <a:solidFill>
                <a:srgbClr val="6B5A64"/>
              </a:solidFill>
              <a:latin typeface="Arial"/>
            </a:endParaRPr>
          </a:p>
        </p:txBody>
      </p:sp>
      <p:sp>
        <p:nvSpPr>
          <p:cNvPr id="6" name="Rectangle 5"/>
          <p:cNvSpPr/>
          <p:nvPr/>
        </p:nvSpPr>
        <p:spPr>
          <a:xfrm>
            <a:off x="0" y="6446520"/>
            <a:ext cx="12191695" cy="411480"/>
          </a:xfrm>
          <a:prstGeom prst="rect">
            <a:avLst/>
          </a:prstGeom>
          <a:solidFill>
            <a:srgbClr val="F4F1F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7" name="Rectangle 6"/>
          <p:cNvSpPr/>
          <p:nvPr/>
        </p:nvSpPr>
        <p:spPr>
          <a:xfrm>
            <a:off x="548640" y="6492240"/>
            <a:ext cx="82296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000" b="0">
                <a:solidFill>
                  <a:srgbClr val="6B5A64"/>
                </a:solidFill>
                <a:latin typeface="Arial"/>
              </a:rPr>
              <a:t>UptimeShield  |  Parametric Business-Interruption Insurance Platform</a:t>
            </a:r>
          </a:p>
        </p:txBody>
      </p:sp>
      <p:sp>
        <p:nvSpPr>
          <p:cNvPr id="8" name="Rectangle 7"/>
          <p:cNvSpPr/>
          <p:nvPr/>
        </p:nvSpPr>
        <p:spPr>
          <a:xfrm>
            <a:off x="10881360" y="6492240"/>
            <a:ext cx="8229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r"/>
            <a:r>
              <a:rPr sz="1000" b="1">
                <a:solidFill>
                  <a:srgbClr val="75013F"/>
                </a:solidFill>
                <a:latin typeface="Arial"/>
              </a:rPr>
              <a:t>2</a:t>
            </a:r>
          </a:p>
        </p:txBody>
      </p:sp>
      <p:sp>
        <p:nvSpPr>
          <p:cNvPr id="10" name="Rounded Rectangle 9"/>
          <p:cNvSpPr/>
          <p:nvPr/>
        </p:nvSpPr>
        <p:spPr>
          <a:xfrm>
            <a:off x="731520" y="1554480"/>
            <a:ext cx="2560320" cy="914400"/>
          </a:xfrm>
          <a:prstGeom prst="roundRect">
            <a:avLst/>
          </a:prstGeom>
          <a:solidFill>
            <a:srgbClr val="F8E7EF"/>
          </a:solidFill>
          <a:ln w="12700">
            <a:solidFill>
              <a:srgbClr val="75013F"/>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500" b="1">
                <a:solidFill>
                  <a:srgbClr val="75013F"/>
                </a:solidFill>
                <a:latin typeface="Arial"/>
              </a:rPr>
              <a:t>Cloud host</a:t>
            </a:r>
          </a:p>
        </p:txBody>
      </p:sp>
      <p:sp>
        <p:nvSpPr>
          <p:cNvPr id="11" name="Right Arrow 10"/>
          <p:cNvSpPr/>
          <p:nvPr/>
        </p:nvSpPr>
        <p:spPr>
          <a:xfrm>
            <a:off x="3383280" y="1901952"/>
            <a:ext cx="1005840" cy="228600"/>
          </a:xfrm>
          <a:prstGeom prst="rightArrow">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2" name="Rounded Rectangle 11"/>
          <p:cNvSpPr/>
          <p:nvPr/>
        </p:nvSpPr>
        <p:spPr>
          <a:xfrm>
            <a:off x="731520" y="2788920"/>
            <a:ext cx="2560320" cy="914400"/>
          </a:xfrm>
          <a:prstGeom prst="round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500" b="1">
                <a:solidFill>
                  <a:srgbClr val="FFFFFF"/>
                </a:solidFill>
                <a:latin typeface="Arial"/>
              </a:rPr>
              <a:t>Payment gateway  (DOWN)</a:t>
            </a:r>
          </a:p>
        </p:txBody>
      </p:sp>
      <p:sp>
        <p:nvSpPr>
          <p:cNvPr id="13" name="Right Arrow 12"/>
          <p:cNvSpPr/>
          <p:nvPr/>
        </p:nvSpPr>
        <p:spPr>
          <a:xfrm>
            <a:off x="3383280" y="3136391"/>
            <a:ext cx="1005840" cy="228600"/>
          </a:xfrm>
          <a:prstGeom prst="rightArrow">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4" name="Rounded Rectangle 13"/>
          <p:cNvSpPr/>
          <p:nvPr/>
        </p:nvSpPr>
        <p:spPr>
          <a:xfrm>
            <a:off x="731520" y="4023360"/>
            <a:ext cx="2560320" cy="914400"/>
          </a:xfrm>
          <a:prstGeom prst="roundRect">
            <a:avLst/>
          </a:prstGeom>
          <a:solidFill>
            <a:srgbClr val="F8E7EF"/>
          </a:solidFill>
          <a:ln w="12700">
            <a:solidFill>
              <a:srgbClr val="75013F"/>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500" b="1">
                <a:solidFill>
                  <a:srgbClr val="75013F"/>
                </a:solidFill>
                <a:latin typeface="Arial"/>
              </a:rPr>
              <a:t>Login / API service</a:t>
            </a:r>
          </a:p>
        </p:txBody>
      </p:sp>
      <p:sp>
        <p:nvSpPr>
          <p:cNvPr id="15" name="Right Arrow 14"/>
          <p:cNvSpPr/>
          <p:nvPr/>
        </p:nvSpPr>
        <p:spPr>
          <a:xfrm>
            <a:off x="3383280" y="4370832"/>
            <a:ext cx="1005840" cy="228600"/>
          </a:xfrm>
          <a:prstGeom prst="rightArrow">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6" name="Rounded Rectangle 15"/>
          <p:cNvSpPr/>
          <p:nvPr/>
        </p:nvSpPr>
        <p:spPr>
          <a:xfrm>
            <a:off x="4480560" y="2103120"/>
            <a:ext cx="2926080" cy="2194560"/>
          </a:xfrm>
          <a:prstGeom prst="round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2000" b="1">
                <a:solidFill>
                  <a:srgbClr val="FFFFFF"/>
                </a:solidFill>
                <a:latin typeface="Arial"/>
              </a:rPr>
              <a:t>Your online</a:t>
            </a:r>
          </a:p>
          <a:p>
            <a:pPr algn="ctr"/>
            <a:r>
              <a:rPr sz="2000" b="1">
                <a:solidFill>
                  <a:srgbClr val="FFFFFF"/>
                </a:solidFill>
                <a:latin typeface="Arial"/>
              </a:rPr>
              <a:t>business</a:t>
            </a:r>
          </a:p>
        </p:txBody>
      </p:sp>
      <p:sp>
        <p:nvSpPr>
          <p:cNvPr id="17" name="Rectangle 16"/>
          <p:cNvSpPr/>
          <p:nvPr/>
        </p:nvSpPr>
        <p:spPr>
          <a:xfrm>
            <a:off x="7680960" y="1554480"/>
            <a:ext cx="3840480" cy="105156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600" b="1">
                <a:solidFill>
                  <a:srgbClr val="75013F"/>
                </a:solidFill>
                <a:latin typeface="Arial"/>
              </a:rPr>
              <a:t>Sales and sign-ups stop at once</a:t>
            </a:r>
          </a:p>
        </p:txBody>
      </p:sp>
      <p:sp>
        <p:nvSpPr>
          <p:cNvPr id="18" name="Rectangle 17"/>
          <p:cNvSpPr/>
          <p:nvPr/>
        </p:nvSpPr>
        <p:spPr>
          <a:xfrm>
            <a:off x="7680960" y="2788920"/>
            <a:ext cx="3840480" cy="105156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600" b="1">
                <a:solidFill>
                  <a:srgbClr val="75013F"/>
                </a:solidFill>
                <a:latin typeface="Arial"/>
              </a:rPr>
              <a:t>The business cannot fix it itself</a:t>
            </a:r>
          </a:p>
        </p:txBody>
      </p:sp>
      <p:sp>
        <p:nvSpPr>
          <p:cNvPr id="19" name="Rectangle 18"/>
          <p:cNvSpPr/>
          <p:nvPr/>
        </p:nvSpPr>
        <p:spPr>
          <a:xfrm>
            <a:off x="7680960" y="4023360"/>
            <a:ext cx="3840480" cy="105156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600" b="1">
                <a:solidFill>
                  <a:srgbClr val="75013F"/>
                </a:solidFill>
                <a:latin typeface="Arial"/>
              </a:rPr>
              <a:t>Normal insurance is slow: it needs proof of loss</a:t>
            </a:r>
          </a:p>
        </p:txBody>
      </p:sp>
      <p:sp>
        <p:nvSpPr>
          <p:cNvPr id="20" name="Rectangle 19"/>
          <p:cNvSpPr/>
          <p:nvPr/>
        </p:nvSpPr>
        <p:spPr>
          <a:xfrm>
            <a:off x="731520" y="5394960"/>
            <a:ext cx="10789920" cy="731520"/>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600" b="1" dirty="0">
                <a:solidFill>
                  <a:srgbClr val="FFFFFF"/>
                </a:solidFill>
                <a:latin typeface="Arial"/>
              </a:rPr>
              <a:t>Real market: AIG and </a:t>
            </a:r>
            <a:r>
              <a:rPr sz="1600" b="1" dirty="0" err="1">
                <a:solidFill>
                  <a:srgbClr val="FFFFFF"/>
                </a:solidFill>
                <a:latin typeface="Arial"/>
              </a:rPr>
              <a:t>Parametrix</a:t>
            </a:r>
            <a:r>
              <a:rPr sz="1600" b="1" dirty="0">
                <a:solidFill>
                  <a:srgbClr val="FFFFFF"/>
                </a:solidFill>
                <a:latin typeface="Arial"/>
              </a:rPr>
              <a:t> launched cloud-outage cover in August 2026</a:t>
            </a:r>
          </a:p>
        </p:txBody>
      </p:sp>
      <p:sp>
        <p:nvSpPr>
          <p:cNvPr id="22" name="TextBox 21">
            <a:extLst>
              <a:ext uri="{FF2B5EF4-FFF2-40B4-BE49-F238E27FC236}">
                <a16:creationId xmlns:a16="http://schemas.microsoft.com/office/drawing/2014/main" id="{28B70F0E-0B46-F399-7942-863DB9046C4A}"/>
              </a:ext>
            </a:extLst>
          </p:cNvPr>
          <p:cNvSpPr txBox="1"/>
          <p:nvPr/>
        </p:nvSpPr>
        <p:spPr>
          <a:xfrm>
            <a:off x="5181600" y="1032387"/>
            <a:ext cx="184731" cy="369332"/>
          </a:xfrm>
          <a:prstGeom prst="rect">
            <a:avLst/>
          </a:prstGeom>
          <a:noFill/>
        </p:spPr>
        <p:txBody>
          <a:bodyPr wrap="none" rtlCol="0">
            <a:spAutoFit/>
          </a:bodyPr>
          <a:lstStyle/>
          <a:p>
            <a:endParaRPr lang="en-IN"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708BA-B352-E1FE-6193-4057D9240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8C72E-B243-658D-480F-6074589CDC62}"/>
              </a:ext>
            </a:extLst>
          </p:cNvPr>
          <p:cNvSpPr>
            <a:spLocks noGrp="1"/>
          </p:cNvSpPr>
          <p:nvPr>
            <p:ph type="title"/>
          </p:nvPr>
        </p:nvSpPr>
        <p:spPr>
          <a:xfrm>
            <a:off x="731520" y="347472"/>
            <a:ext cx="10789920" cy="548640"/>
          </a:xfrm>
        </p:spPr>
        <p:txBody>
          <a:bodyPr anchor="ctr"/>
          <a:lstStyle/>
          <a:p>
            <a:pPr algn="l"/>
            <a:r>
              <a:rPr lang="en-IN" sz="2800" b="1" dirty="0">
                <a:solidFill>
                  <a:srgbClr val="75013F"/>
                </a:solidFill>
                <a:latin typeface="Arial"/>
              </a:rPr>
              <a:t>Objectives</a:t>
            </a:r>
          </a:p>
        </p:txBody>
      </p:sp>
      <p:sp>
        <p:nvSpPr>
          <p:cNvPr id="3" name="Rectangle 2">
            <a:extLst>
              <a:ext uri="{FF2B5EF4-FFF2-40B4-BE49-F238E27FC236}">
                <a16:creationId xmlns:a16="http://schemas.microsoft.com/office/drawing/2014/main" id="{E2DACC9A-F8C7-C050-7851-8D16601FA70E}"/>
              </a:ext>
            </a:extLst>
          </p:cNvPr>
          <p:cNvSpPr/>
          <p:nvPr/>
        </p:nvSpPr>
        <p:spPr>
          <a:xfrm>
            <a:off x="0" y="0"/>
            <a:ext cx="12191695" cy="109728"/>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4" name="Rectangle 3">
            <a:extLst>
              <a:ext uri="{FF2B5EF4-FFF2-40B4-BE49-F238E27FC236}">
                <a16:creationId xmlns:a16="http://schemas.microsoft.com/office/drawing/2014/main" id="{CB51AC3D-C1F0-154F-55BC-4932509748FF}"/>
              </a:ext>
            </a:extLst>
          </p:cNvPr>
          <p:cNvSpPr/>
          <p:nvPr/>
        </p:nvSpPr>
        <p:spPr>
          <a:xfrm>
            <a:off x="548640" y="411480"/>
            <a:ext cx="82296" cy="731520"/>
          </a:xfrm>
          <a:prstGeom prst="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6" name="Rectangle 5">
            <a:extLst>
              <a:ext uri="{FF2B5EF4-FFF2-40B4-BE49-F238E27FC236}">
                <a16:creationId xmlns:a16="http://schemas.microsoft.com/office/drawing/2014/main" id="{E6844ABC-C575-461F-AB74-013251C8C86D}"/>
              </a:ext>
            </a:extLst>
          </p:cNvPr>
          <p:cNvSpPr/>
          <p:nvPr/>
        </p:nvSpPr>
        <p:spPr>
          <a:xfrm>
            <a:off x="0" y="6446520"/>
            <a:ext cx="12191695" cy="411480"/>
          </a:xfrm>
          <a:prstGeom prst="rect">
            <a:avLst/>
          </a:prstGeom>
          <a:solidFill>
            <a:srgbClr val="F4F1F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7" name="Rectangle 6">
            <a:extLst>
              <a:ext uri="{FF2B5EF4-FFF2-40B4-BE49-F238E27FC236}">
                <a16:creationId xmlns:a16="http://schemas.microsoft.com/office/drawing/2014/main" id="{D7494A05-79F7-CF3C-AF1A-556EF20C24AC}"/>
              </a:ext>
            </a:extLst>
          </p:cNvPr>
          <p:cNvSpPr/>
          <p:nvPr/>
        </p:nvSpPr>
        <p:spPr>
          <a:xfrm>
            <a:off x="548640" y="6492240"/>
            <a:ext cx="82296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000" b="0">
                <a:solidFill>
                  <a:srgbClr val="6B5A64"/>
                </a:solidFill>
                <a:latin typeface="Arial"/>
              </a:rPr>
              <a:t>UptimeShield  |  Parametric Business-Interruption Insurance Platform</a:t>
            </a:r>
          </a:p>
        </p:txBody>
      </p:sp>
      <p:sp>
        <p:nvSpPr>
          <p:cNvPr id="8" name="Rectangle 7">
            <a:extLst>
              <a:ext uri="{FF2B5EF4-FFF2-40B4-BE49-F238E27FC236}">
                <a16:creationId xmlns:a16="http://schemas.microsoft.com/office/drawing/2014/main" id="{99F1F831-FE9F-7F37-3F16-19FF177A2E6C}"/>
              </a:ext>
            </a:extLst>
          </p:cNvPr>
          <p:cNvSpPr/>
          <p:nvPr/>
        </p:nvSpPr>
        <p:spPr>
          <a:xfrm>
            <a:off x="10881360" y="6492240"/>
            <a:ext cx="8229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r"/>
            <a:r>
              <a:rPr sz="1000" b="1">
                <a:solidFill>
                  <a:srgbClr val="75013F"/>
                </a:solidFill>
                <a:latin typeface="Arial"/>
              </a:rPr>
              <a:t>3</a:t>
            </a:r>
          </a:p>
        </p:txBody>
      </p:sp>
      <p:pic>
        <p:nvPicPr>
          <p:cNvPr id="9" name="Picture 8" descr="shield.png">
            <a:extLst>
              <a:ext uri="{FF2B5EF4-FFF2-40B4-BE49-F238E27FC236}">
                <a16:creationId xmlns:a16="http://schemas.microsoft.com/office/drawing/2014/main" id="{CED99D25-7618-14EC-B46E-0D861161667C}"/>
              </a:ext>
            </a:extLst>
          </p:cNvPr>
          <p:cNvPicPr>
            <a:picLocks noChangeAspect="1"/>
          </p:cNvPicPr>
          <p:nvPr/>
        </p:nvPicPr>
        <p:blipFill>
          <a:blip r:embed="rId3"/>
          <a:stretch>
            <a:fillRect/>
          </a:stretch>
        </p:blipFill>
        <p:spPr>
          <a:xfrm>
            <a:off x="10304944" y="514178"/>
            <a:ext cx="1285076" cy="1056476"/>
          </a:xfrm>
          <a:prstGeom prst="rect">
            <a:avLst/>
          </a:prstGeom>
        </p:spPr>
      </p:pic>
      <p:sp>
        <p:nvSpPr>
          <p:cNvPr id="11" name="Rectangle 10">
            <a:extLst>
              <a:ext uri="{FF2B5EF4-FFF2-40B4-BE49-F238E27FC236}">
                <a16:creationId xmlns:a16="http://schemas.microsoft.com/office/drawing/2014/main" id="{987CE370-12A1-729E-618E-23B9A699FFDC}"/>
              </a:ext>
            </a:extLst>
          </p:cNvPr>
          <p:cNvSpPr/>
          <p:nvPr/>
        </p:nvSpPr>
        <p:spPr>
          <a:xfrm>
            <a:off x="1005840" y="1280160"/>
            <a:ext cx="7315200" cy="1143000"/>
          </a:xfrm>
          <a:prstGeom prst="rect">
            <a:avLst/>
          </a:prstGeom>
          <a:solidFill>
            <a:srgbClr val="FFFFFF"/>
          </a:solidFill>
          <a:ln w="12700">
            <a:solidFill>
              <a:srgbClr val="D9CFD5"/>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dirty="0"/>
          </a:p>
        </p:txBody>
      </p:sp>
      <p:sp>
        <p:nvSpPr>
          <p:cNvPr id="12" name="Rectangle 11">
            <a:extLst>
              <a:ext uri="{FF2B5EF4-FFF2-40B4-BE49-F238E27FC236}">
                <a16:creationId xmlns:a16="http://schemas.microsoft.com/office/drawing/2014/main" id="{1F9978B5-B4CA-37AB-5483-825A75227FF5}"/>
              </a:ext>
            </a:extLst>
          </p:cNvPr>
          <p:cNvSpPr/>
          <p:nvPr/>
        </p:nvSpPr>
        <p:spPr>
          <a:xfrm>
            <a:off x="1005840" y="1188720"/>
            <a:ext cx="7315200" cy="91440"/>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3" name="Rectangle 12">
            <a:extLst>
              <a:ext uri="{FF2B5EF4-FFF2-40B4-BE49-F238E27FC236}">
                <a16:creationId xmlns:a16="http://schemas.microsoft.com/office/drawing/2014/main" id="{DBF53904-1687-384A-26A0-F952E5FA4ED0}"/>
              </a:ext>
            </a:extLst>
          </p:cNvPr>
          <p:cNvSpPr/>
          <p:nvPr/>
        </p:nvSpPr>
        <p:spPr>
          <a:xfrm>
            <a:off x="1143000" y="1293876"/>
            <a:ext cx="704088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700" b="1" dirty="0">
                <a:solidFill>
                  <a:srgbClr val="75013F"/>
                </a:solidFill>
                <a:latin typeface="Arial"/>
              </a:rPr>
              <a:t>1  </a:t>
            </a:r>
            <a:r>
              <a:rPr lang="en-IN" sz="1700" b="1" dirty="0">
                <a:solidFill>
                  <a:srgbClr val="75013F"/>
                </a:solidFill>
                <a:latin typeface="Arial"/>
              </a:rPr>
              <a:t>Strengthen Business Resilience</a:t>
            </a:r>
            <a:endParaRPr sz="1700" b="1" dirty="0">
              <a:solidFill>
                <a:srgbClr val="75013F"/>
              </a:solidFill>
              <a:latin typeface="Arial"/>
            </a:endParaRPr>
          </a:p>
        </p:txBody>
      </p:sp>
      <p:sp>
        <p:nvSpPr>
          <p:cNvPr id="14" name="Rectangle 13">
            <a:extLst>
              <a:ext uri="{FF2B5EF4-FFF2-40B4-BE49-F238E27FC236}">
                <a16:creationId xmlns:a16="http://schemas.microsoft.com/office/drawing/2014/main" id="{FCE68BA2-6707-F34D-6C0E-A19E0B9ACA0C}"/>
              </a:ext>
            </a:extLst>
          </p:cNvPr>
          <p:cNvSpPr/>
          <p:nvPr/>
        </p:nvSpPr>
        <p:spPr>
          <a:xfrm>
            <a:off x="1280160" y="1805940"/>
            <a:ext cx="7315200" cy="5257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lang="en-IN" sz="1300" b="0" dirty="0">
                <a:solidFill>
                  <a:srgbClr val="29252A"/>
                </a:solidFill>
                <a:latin typeface="Arial"/>
              </a:rPr>
              <a:t>Protect businesses from the financial impact of critical third-party technology provider outages.</a:t>
            </a:r>
            <a:endParaRPr sz="1300" b="0" dirty="0">
              <a:solidFill>
                <a:srgbClr val="29252A"/>
              </a:solidFill>
              <a:latin typeface="Arial"/>
            </a:endParaRPr>
          </a:p>
        </p:txBody>
      </p:sp>
      <p:sp>
        <p:nvSpPr>
          <p:cNvPr id="15" name="Rectangle 14">
            <a:extLst>
              <a:ext uri="{FF2B5EF4-FFF2-40B4-BE49-F238E27FC236}">
                <a16:creationId xmlns:a16="http://schemas.microsoft.com/office/drawing/2014/main" id="{018B8EA2-23D3-17B7-4C51-2F03F6048331}"/>
              </a:ext>
            </a:extLst>
          </p:cNvPr>
          <p:cNvSpPr/>
          <p:nvPr/>
        </p:nvSpPr>
        <p:spPr>
          <a:xfrm>
            <a:off x="1005840" y="2968285"/>
            <a:ext cx="7315200" cy="1143000"/>
          </a:xfrm>
          <a:prstGeom prst="rect">
            <a:avLst/>
          </a:prstGeom>
          <a:solidFill>
            <a:srgbClr val="FFFFFF"/>
          </a:solidFill>
          <a:ln w="12700">
            <a:solidFill>
              <a:srgbClr val="D9CFD5"/>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6" name="Rectangle 15">
            <a:extLst>
              <a:ext uri="{FF2B5EF4-FFF2-40B4-BE49-F238E27FC236}">
                <a16:creationId xmlns:a16="http://schemas.microsoft.com/office/drawing/2014/main" id="{E6431731-EDB9-04F4-9514-696C901511E8}"/>
              </a:ext>
            </a:extLst>
          </p:cNvPr>
          <p:cNvSpPr/>
          <p:nvPr/>
        </p:nvSpPr>
        <p:spPr>
          <a:xfrm>
            <a:off x="1006823" y="2873109"/>
            <a:ext cx="7315200" cy="91440"/>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7" name="Rectangle 16">
            <a:extLst>
              <a:ext uri="{FF2B5EF4-FFF2-40B4-BE49-F238E27FC236}">
                <a16:creationId xmlns:a16="http://schemas.microsoft.com/office/drawing/2014/main" id="{226F464A-BF3E-4246-D381-D636950FC62F}"/>
              </a:ext>
            </a:extLst>
          </p:cNvPr>
          <p:cNvSpPr/>
          <p:nvPr/>
        </p:nvSpPr>
        <p:spPr>
          <a:xfrm>
            <a:off x="1143000" y="3047189"/>
            <a:ext cx="704088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lang="en-IN" sz="1700" b="1" dirty="0">
                <a:solidFill>
                  <a:srgbClr val="75013F"/>
                </a:solidFill>
                <a:latin typeface="Arial"/>
              </a:rPr>
              <a:t>2 Accelerate Claims and Settlement</a:t>
            </a:r>
            <a:endParaRPr sz="1700" b="1" dirty="0">
              <a:solidFill>
                <a:srgbClr val="75013F"/>
              </a:solidFill>
              <a:latin typeface="Arial"/>
            </a:endParaRPr>
          </a:p>
        </p:txBody>
      </p:sp>
      <p:sp>
        <p:nvSpPr>
          <p:cNvPr id="18" name="Rectangle 17">
            <a:extLst>
              <a:ext uri="{FF2B5EF4-FFF2-40B4-BE49-F238E27FC236}">
                <a16:creationId xmlns:a16="http://schemas.microsoft.com/office/drawing/2014/main" id="{6BE4FFB8-6C6E-D4C3-0152-C19E11D16DE3}"/>
              </a:ext>
            </a:extLst>
          </p:cNvPr>
          <p:cNvSpPr/>
          <p:nvPr/>
        </p:nvSpPr>
        <p:spPr>
          <a:xfrm>
            <a:off x="1143000" y="3523193"/>
            <a:ext cx="7452360" cy="48930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lang="en-IN" sz="1300" b="0" dirty="0">
                <a:solidFill>
                  <a:srgbClr val="29252A"/>
                </a:solidFill>
                <a:latin typeface="Arial"/>
              </a:rPr>
              <a:t>Automate outage evaluation and payout eligibility to enable faster, transparent claim processing</a:t>
            </a:r>
            <a:endParaRPr sz="1300" b="0" dirty="0">
              <a:solidFill>
                <a:srgbClr val="29252A"/>
              </a:solidFill>
              <a:latin typeface="Arial"/>
            </a:endParaRPr>
          </a:p>
        </p:txBody>
      </p:sp>
      <p:sp>
        <p:nvSpPr>
          <p:cNvPr id="19" name="Rectangle 18">
            <a:extLst>
              <a:ext uri="{FF2B5EF4-FFF2-40B4-BE49-F238E27FC236}">
                <a16:creationId xmlns:a16="http://schemas.microsoft.com/office/drawing/2014/main" id="{53ED2592-3285-CB9C-48E4-5073C8F97962}"/>
              </a:ext>
            </a:extLst>
          </p:cNvPr>
          <p:cNvSpPr/>
          <p:nvPr/>
        </p:nvSpPr>
        <p:spPr>
          <a:xfrm>
            <a:off x="1006823" y="4539111"/>
            <a:ext cx="7315200" cy="1143000"/>
          </a:xfrm>
          <a:prstGeom prst="rect">
            <a:avLst/>
          </a:prstGeom>
          <a:solidFill>
            <a:srgbClr val="FFFFFF"/>
          </a:solidFill>
          <a:ln w="12700">
            <a:solidFill>
              <a:srgbClr val="D9CFD5"/>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dirty="0"/>
          </a:p>
        </p:txBody>
      </p:sp>
      <p:sp>
        <p:nvSpPr>
          <p:cNvPr id="20" name="Rectangle 19">
            <a:extLst>
              <a:ext uri="{FF2B5EF4-FFF2-40B4-BE49-F238E27FC236}">
                <a16:creationId xmlns:a16="http://schemas.microsoft.com/office/drawing/2014/main" id="{2539178C-4E76-1EC6-5EB9-8FD095E8C0E4}"/>
              </a:ext>
            </a:extLst>
          </p:cNvPr>
          <p:cNvSpPr/>
          <p:nvPr/>
        </p:nvSpPr>
        <p:spPr>
          <a:xfrm>
            <a:off x="1006823" y="4454455"/>
            <a:ext cx="7315200" cy="91440"/>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21" name="Rectangle 20">
            <a:extLst>
              <a:ext uri="{FF2B5EF4-FFF2-40B4-BE49-F238E27FC236}">
                <a16:creationId xmlns:a16="http://schemas.microsoft.com/office/drawing/2014/main" id="{99745444-3307-665F-68E2-72CC0B709137}"/>
              </a:ext>
            </a:extLst>
          </p:cNvPr>
          <p:cNvSpPr/>
          <p:nvPr/>
        </p:nvSpPr>
        <p:spPr>
          <a:xfrm>
            <a:off x="1143000" y="4446442"/>
            <a:ext cx="704088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lang="en-IN" sz="1700" b="1" dirty="0">
                <a:solidFill>
                  <a:srgbClr val="75013F"/>
                </a:solidFill>
                <a:latin typeface="Arial"/>
              </a:rPr>
              <a:t>3 Deliver a </a:t>
            </a:r>
            <a:r>
              <a:rPr lang="en-IN" sz="1700" b="1" dirty="0" err="1">
                <a:solidFill>
                  <a:srgbClr val="75013F"/>
                </a:solidFill>
                <a:latin typeface="Arial"/>
              </a:rPr>
              <a:t>Secure,Scalable</a:t>
            </a:r>
            <a:r>
              <a:rPr lang="en-IN" sz="1700" b="1" dirty="0">
                <a:solidFill>
                  <a:srgbClr val="75013F"/>
                </a:solidFill>
                <a:latin typeface="Arial"/>
              </a:rPr>
              <a:t> Insurance Ecosystem</a:t>
            </a:r>
            <a:endParaRPr sz="1700" b="1" dirty="0">
              <a:solidFill>
                <a:srgbClr val="75013F"/>
              </a:solidFill>
              <a:latin typeface="Arial"/>
            </a:endParaRPr>
          </a:p>
        </p:txBody>
      </p:sp>
      <p:sp>
        <p:nvSpPr>
          <p:cNvPr id="22" name="Rectangle 21">
            <a:extLst>
              <a:ext uri="{FF2B5EF4-FFF2-40B4-BE49-F238E27FC236}">
                <a16:creationId xmlns:a16="http://schemas.microsoft.com/office/drawing/2014/main" id="{32845DAF-8D07-7862-C7F3-00E9ADA8745E}"/>
              </a:ext>
            </a:extLst>
          </p:cNvPr>
          <p:cNvSpPr/>
          <p:nvPr/>
        </p:nvSpPr>
        <p:spPr>
          <a:xfrm>
            <a:off x="1143000" y="4947002"/>
            <a:ext cx="7179023" cy="4613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lang="en-IN" sz="1300" b="0" dirty="0">
                <a:solidFill>
                  <a:srgbClr val="29252A"/>
                </a:solidFill>
                <a:latin typeface="Arial"/>
              </a:rPr>
              <a:t>Connect the complete insurance lifecycle through a role-based, reactive microservices architecture</a:t>
            </a:r>
            <a:endParaRPr sz="1300" b="0" dirty="0">
              <a:solidFill>
                <a:srgbClr val="29252A"/>
              </a:solidFill>
              <a:latin typeface="Arial"/>
            </a:endParaRPr>
          </a:p>
        </p:txBody>
      </p:sp>
    </p:spTree>
    <p:extLst>
      <p:ext uri="{BB962C8B-B14F-4D97-AF65-F5344CB8AC3E}">
        <p14:creationId xmlns:p14="http://schemas.microsoft.com/office/powerpoint/2010/main" val="1566276963"/>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47472"/>
            <a:ext cx="10789920" cy="548640"/>
          </a:xfrm>
        </p:spPr>
        <p:txBody>
          <a:bodyPr anchor="ctr"/>
          <a:lstStyle/>
          <a:p>
            <a:pPr algn="l"/>
            <a:r>
              <a:rPr sz="2800" b="1" dirty="0">
                <a:solidFill>
                  <a:srgbClr val="75013F"/>
                </a:solidFill>
                <a:latin typeface="Arial"/>
              </a:rPr>
              <a:t>Our Solution</a:t>
            </a:r>
            <a:r>
              <a:rPr lang="en-IN" sz="2800" b="1" dirty="0">
                <a:solidFill>
                  <a:srgbClr val="75013F"/>
                </a:solidFill>
                <a:latin typeface="Arial"/>
              </a:rPr>
              <a:t>:  </a:t>
            </a:r>
            <a:r>
              <a:rPr lang="en-IN" sz="2800" b="1" dirty="0" err="1">
                <a:solidFill>
                  <a:srgbClr val="75013F"/>
                </a:solidFill>
                <a:latin typeface="Arial"/>
              </a:rPr>
              <a:t>UptimeShield</a:t>
            </a:r>
            <a:endParaRPr sz="2800" b="1" dirty="0">
              <a:solidFill>
                <a:srgbClr val="75013F"/>
              </a:solidFill>
              <a:latin typeface="Arial"/>
            </a:endParaRPr>
          </a:p>
        </p:txBody>
      </p:sp>
      <p:sp>
        <p:nvSpPr>
          <p:cNvPr id="3" name="Rectangle 2"/>
          <p:cNvSpPr/>
          <p:nvPr/>
        </p:nvSpPr>
        <p:spPr>
          <a:xfrm>
            <a:off x="0" y="0"/>
            <a:ext cx="12191695" cy="109728"/>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4" name="Rectangle 3"/>
          <p:cNvSpPr/>
          <p:nvPr/>
        </p:nvSpPr>
        <p:spPr>
          <a:xfrm>
            <a:off x="548640" y="411480"/>
            <a:ext cx="82296" cy="731520"/>
          </a:xfrm>
          <a:prstGeom prst="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5" name="Rectangle 4"/>
          <p:cNvSpPr/>
          <p:nvPr/>
        </p:nvSpPr>
        <p:spPr>
          <a:xfrm>
            <a:off x="731520" y="868680"/>
            <a:ext cx="10789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0" dirty="0">
                <a:solidFill>
                  <a:srgbClr val="6B5A64"/>
                </a:solidFill>
                <a:latin typeface="Arial"/>
              </a:rPr>
              <a:t>Agree the rules first. Pay automatically when they are met</a:t>
            </a:r>
          </a:p>
        </p:txBody>
      </p:sp>
      <p:sp>
        <p:nvSpPr>
          <p:cNvPr id="6" name="Rectangle 5"/>
          <p:cNvSpPr/>
          <p:nvPr/>
        </p:nvSpPr>
        <p:spPr>
          <a:xfrm>
            <a:off x="0" y="6446520"/>
            <a:ext cx="12191695" cy="411480"/>
          </a:xfrm>
          <a:prstGeom prst="rect">
            <a:avLst/>
          </a:prstGeom>
          <a:solidFill>
            <a:srgbClr val="F4F1F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7" name="Rectangle 6"/>
          <p:cNvSpPr/>
          <p:nvPr/>
        </p:nvSpPr>
        <p:spPr>
          <a:xfrm>
            <a:off x="548640" y="6492240"/>
            <a:ext cx="82296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000" b="0">
                <a:solidFill>
                  <a:srgbClr val="6B5A64"/>
                </a:solidFill>
                <a:latin typeface="Arial"/>
              </a:rPr>
              <a:t>UptimeShield  |  Parametric Business-Interruption Insurance Platform</a:t>
            </a:r>
          </a:p>
        </p:txBody>
      </p:sp>
      <p:sp>
        <p:nvSpPr>
          <p:cNvPr id="8" name="Rectangle 7"/>
          <p:cNvSpPr/>
          <p:nvPr/>
        </p:nvSpPr>
        <p:spPr>
          <a:xfrm>
            <a:off x="10881360" y="6492240"/>
            <a:ext cx="8229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r"/>
            <a:r>
              <a:rPr sz="1000" b="1">
                <a:solidFill>
                  <a:srgbClr val="75013F"/>
                </a:solidFill>
                <a:latin typeface="Arial"/>
              </a:rPr>
              <a:t>3</a:t>
            </a:r>
          </a:p>
        </p:txBody>
      </p:sp>
      <p:pic>
        <p:nvPicPr>
          <p:cNvPr id="9" name="Picture 8" descr="shield.png"/>
          <p:cNvPicPr>
            <a:picLocks noChangeAspect="1"/>
          </p:cNvPicPr>
          <p:nvPr/>
        </p:nvPicPr>
        <p:blipFill>
          <a:blip r:embed="rId3"/>
          <a:stretch>
            <a:fillRect/>
          </a:stretch>
        </p:blipFill>
        <p:spPr>
          <a:xfrm>
            <a:off x="11109960" y="320040"/>
            <a:ext cx="685800" cy="685800"/>
          </a:xfrm>
          <a:prstGeom prst="rect">
            <a:avLst/>
          </a:prstGeom>
        </p:spPr>
      </p:pic>
      <p:pic>
        <p:nvPicPr>
          <p:cNvPr id="10" name="Picture 9" descr="shield.png"/>
          <p:cNvPicPr>
            <a:picLocks noChangeAspect="1"/>
          </p:cNvPicPr>
          <p:nvPr/>
        </p:nvPicPr>
        <p:blipFill>
          <a:blip r:embed="rId3"/>
          <a:stretch>
            <a:fillRect/>
          </a:stretch>
        </p:blipFill>
        <p:spPr>
          <a:xfrm>
            <a:off x="456216" y="2067134"/>
            <a:ext cx="3291840" cy="2961476"/>
          </a:xfrm>
          <a:prstGeom prst="rect">
            <a:avLst/>
          </a:prstGeom>
        </p:spPr>
      </p:pic>
      <p:sp>
        <p:nvSpPr>
          <p:cNvPr id="11" name="Rectangle 10"/>
          <p:cNvSpPr/>
          <p:nvPr/>
        </p:nvSpPr>
        <p:spPr>
          <a:xfrm>
            <a:off x="4206240" y="1463040"/>
            <a:ext cx="7315200" cy="1143000"/>
          </a:xfrm>
          <a:prstGeom prst="rect">
            <a:avLst/>
          </a:prstGeom>
          <a:solidFill>
            <a:srgbClr val="FFFFFF"/>
          </a:solidFill>
          <a:ln w="12700">
            <a:solidFill>
              <a:srgbClr val="D9CFD5"/>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2" name="Rectangle 11"/>
          <p:cNvSpPr/>
          <p:nvPr/>
        </p:nvSpPr>
        <p:spPr>
          <a:xfrm>
            <a:off x="4206240" y="1463040"/>
            <a:ext cx="7315200" cy="91440"/>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3" name="Rectangle 12"/>
          <p:cNvSpPr/>
          <p:nvPr/>
        </p:nvSpPr>
        <p:spPr>
          <a:xfrm>
            <a:off x="4343400" y="1645920"/>
            <a:ext cx="704088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700" b="1">
                <a:solidFill>
                  <a:srgbClr val="75013F"/>
                </a:solidFill>
                <a:latin typeface="Arial"/>
              </a:rPr>
              <a:t>1  Agree up front</a:t>
            </a:r>
          </a:p>
        </p:txBody>
      </p:sp>
      <p:sp>
        <p:nvSpPr>
          <p:cNvPr id="14" name="Rectangle 13"/>
          <p:cNvSpPr/>
          <p:nvPr/>
        </p:nvSpPr>
        <p:spPr>
          <a:xfrm>
            <a:off x="4343400" y="2240280"/>
            <a:ext cx="70408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sz="1300" b="0">
                <a:solidFill>
                  <a:srgbClr val="29252A"/>
                </a:solidFill>
                <a:latin typeface="Arial"/>
              </a:rPr>
              <a:t>Minimum outage minutes, payout rate and maximum payout are set on the policy</a:t>
            </a:r>
          </a:p>
        </p:txBody>
      </p:sp>
      <p:sp>
        <p:nvSpPr>
          <p:cNvPr id="15" name="Rectangle 14"/>
          <p:cNvSpPr/>
          <p:nvPr/>
        </p:nvSpPr>
        <p:spPr>
          <a:xfrm>
            <a:off x="4206240" y="2743200"/>
            <a:ext cx="7315200" cy="1143000"/>
          </a:xfrm>
          <a:prstGeom prst="rect">
            <a:avLst/>
          </a:prstGeom>
          <a:solidFill>
            <a:srgbClr val="FFFFFF"/>
          </a:solidFill>
          <a:ln w="12700">
            <a:solidFill>
              <a:srgbClr val="D9CFD5"/>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6" name="Rectangle 15"/>
          <p:cNvSpPr/>
          <p:nvPr/>
        </p:nvSpPr>
        <p:spPr>
          <a:xfrm>
            <a:off x="4206240" y="2743200"/>
            <a:ext cx="7315200" cy="91440"/>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7" name="Rectangle 16"/>
          <p:cNvSpPr/>
          <p:nvPr/>
        </p:nvSpPr>
        <p:spPr>
          <a:xfrm>
            <a:off x="4343400" y="2926080"/>
            <a:ext cx="704088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700" b="1">
                <a:solidFill>
                  <a:srgbClr val="75013F"/>
                </a:solidFill>
                <a:latin typeface="Arial"/>
              </a:rPr>
              <a:t>2  Measure the outage</a:t>
            </a:r>
          </a:p>
        </p:txBody>
      </p:sp>
      <p:sp>
        <p:nvSpPr>
          <p:cNvPr id="18" name="Rectangle 17"/>
          <p:cNvSpPr/>
          <p:nvPr/>
        </p:nvSpPr>
        <p:spPr>
          <a:xfrm>
            <a:off x="4343400" y="3520440"/>
            <a:ext cx="70408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sz="1300" b="0" dirty="0">
                <a:solidFill>
                  <a:srgbClr val="29252A"/>
                </a:solidFill>
                <a:latin typeface="Arial"/>
              </a:rPr>
              <a:t>Provider outages are recorded with a start and an end time</a:t>
            </a:r>
          </a:p>
        </p:txBody>
      </p:sp>
      <p:sp>
        <p:nvSpPr>
          <p:cNvPr id="19" name="Rectangle 18"/>
          <p:cNvSpPr/>
          <p:nvPr/>
        </p:nvSpPr>
        <p:spPr>
          <a:xfrm>
            <a:off x="4206240" y="4023360"/>
            <a:ext cx="7315200" cy="1143000"/>
          </a:xfrm>
          <a:prstGeom prst="rect">
            <a:avLst/>
          </a:prstGeom>
          <a:solidFill>
            <a:srgbClr val="FFFFFF"/>
          </a:solidFill>
          <a:ln w="12700">
            <a:solidFill>
              <a:srgbClr val="D9CFD5"/>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20" name="Rectangle 19"/>
          <p:cNvSpPr/>
          <p:nvPr/>
        </p:nvSpPr>
        <p:spPr>
          <a:xfrm>
            <a:off x="4206240" y="4023360"/>
            <a:ext cx="7315200" cy="91440"/>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21" name="Rectangle 20"/>
          <p:cNvSpPr/>
          <p:nvPr/>
        </p:nvSpPr>
        <p:spPr>
          <a:xfrm>
            <a:off x="4343400" y="4206240"/>
            <a:ext cx="704088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700" b="1">
                <a:solidFill>
                  <a:srgbClr val="75013F"/>
                </a:solidFill>
                <a:latin typeface="Arial"/>
              </a:rPr>
              <a:t>3  Decide and pay</a:t>
            </a:r>
          </a:p>
        </p:txBody>
      </p:sp>
      <p:sp>
        <p:nvSpPr>
          <p:cNvPr id="22" name="Rectangle 21"/>
          <p:cNvSpPr/>
          <p:nvPr/>
        </p:nvSpPr>
        <p:spPr>
          <a:xfrm>
            <a:off x="4343400" y="4800600"/>
            <a:ext cx="70408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sz="1300" b="0">
                <a:solidFill>
                  <a:srgbClr val="29252A"/>
                </a:solidFill>
                <a:latin typeface="Arial"/>
              </a:rPr>
              <a:t>The system compares the outage with the rules and sends the claim to settlement</a:t>
            </a:r>
          </a:p>
        </p:txBody>
      </p:sp>
      <p:sp>
        <p:nvSpPr>
          <p:cNvPr id="23" name="Rectangle 22"/>
          <p:cNvSpPr/>
          <p:nvPr/>
        </p:nvSpPr>
        <p:spPr>
          <a:xfrm>
            <a:off x="731520" y="5394960"/>
            <a:ext cx="10789920" cy="73152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800" b="1" dirty="0">
                <a:solidFill>
                  <a:srgbClr val="75013F"/>
                </a:solidFill>
                <a:latin typeface="Arial"/>
              </a:rPr>
              <a:t>Faster, clearer and more consistent than waiting for a loss investigation</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47472"/>
            <a:ext cx="10789920" cy="548640"/>
          </a:xfrm>
        </p:spPr>
        <p:txBody>
          <a:bodyPr anchor="ctr"/>
          <a:lstStyle/>
          <a:p>
            <a:pPr algn="l"/>
            <a:r>
              <a:rPr sz="2800" b="1">
                <a:solidFill>
                  <a:srgbClr val="75013F"/>
                </a:solidFill>
                <a:latin typeface="Arial"/>
              </a:rPr>
              <a:t>How It Works: Business Flow</a:t>
            </a:r>
          </a:p>
        </p:txBody>
      </p:sp>
      <p:sp>
        <p:nvSpPr>
          <p:cNvPr id="3" name="Rectangle 2"/>
          <p:cNvSpPr/>
          <p:nvPr/>
        </p:nvSpPr>
        <p:spPr>
          <a:xfrm>
            <a:off x="0" y="0"/>
            <a:ext cx="12191695" cy="109728"/>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4" name="Rectangle 3"/>
          <p:cNvSpPr/>
          <p:nvPr/>
        </p:nvSpPr>
        <p:spPr>
          <a:xfrm>
            <a:off x="548640" y="411480"/>
            <a:ext cx="82296" cy="731520"/>
          </a:xfrm>
          <a:prstGeom prst="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6" name="Rectangle 5"/>
          <p:cNvSpPr/>
          <p:nvPr/>
        </p:nvSpPr>
        <p:spPr>
          <a:xfrm>
            <a:off x="0" y="6446520"/>
            <a:ext cx="12191695" cy="411480"/>
          </a:xfrm>
          <a:prstGeom prst="rect">
            <a:avLst/>
          </a:prstGeom>
          <a:solidFill>
            <a:srgbClr val="F4F1F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7" name="Rectangle 6"/>
          <p:cNvSpPr/>
          <p:nvPr/>
        </p:nvSpPr>
        <p:spPr>
          <a:xfrm>
            <a:off x="548640" y="6492240"/>
            <a:ext cx="82296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000" b="0">
                <a:solidFill>
                  <a:srgbClr val="6B5A64"/>
                </a:solidFill>
                <a:latin typeface="Arial"/>
              </a:rPr>
              <a:t>UptimeShield  |  Parametric Business-Interruption Insurance Platform</a:t>
            </a:r>
          </a:p>
        </p:txBody>
      </p:sp>
      <p:sp>
        <p:nvSpPr>
          <p:cNvPr id="8" name="Rectangle 7"/>
          <p:cNvSpPr/>
          <p:nvPr/>
        </p:nvSpPr>
        <p:spPr>
          <a:xfrm>
            <a:off x="10881360" y="6492240"/>
            <a:ext cx="8229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r"/>
            <a:r>
              <a:rPr sz="1000" b="1">
                <a:solidFill>
                  <a:srgbClr val="75013F"/>
                </a:solidFill>
                <a:latin typeface="Arial"/>
              </a:rPr>
              <a:t>4</a:t>
            </a:r>
          </a:p>
        </p:txBody>
      </p:sp>
      <p:pic>
        <p:nvPicPr>
          <p:cNvPr id="9" name="Picture 8" descr="shield.png"/>
          <p:cNvPicPr>
            <a:picLocks noChangeAspect="1"/>
          </p:cNvPicPr>
          <p:nvPr/>
        </p:nvPicPr>
        <p:blipFill>
          <a:blip r:embed="rId3"/>
          <a:stretch>
            <a:fillRect/>
          </a:stretch>
        </p:blipFill>
        <p:spPr>
          <a:xfrm>
            <a:off x="11109960" y="320040"/>
            <a:ext cx="685800" cy="685800"/>
          </a:xfrm>
          <a:prstGeom prst="rect">
            <a:avLst/>
          </a:prstGeom>
        </p:spPr>
      </p:pic>
      <p:sp>
        <p:nvSpPr>
          <p:cNvPr id="22" name="Rectangle 21"/>
          <p:cNvSpPr/>
          <p:nvPr/>
        </p:nvSpPr>
        <p:spPr>
          <a:xfrm>
            <a:off x="3651701" y="4191836"/>
            <a:ext cx="10789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endParaRPr sz="1100" b="1" dirty="0">
              <a:solidFill>
                <a:srgbClr val="6B5A64"/>
              </a:solidFill>
              <a:latin typeface="Arial"/>
            </a:endParaRPr>
          </a:p>
        </p:txBody>
      </p:sp>
      <p:sp>
        <p:nvSpPr>
          <p:cNvPr id="29" name="Rectangle 28">
            <a:extLst>
              <a:ext uri="{FF2B5EF4-FFF2-40B4-BE49-F238E27FC236}">
                <a16:creationId xmlns:a16="http://schemas.microsoft.com/office/drawing/2014/main" id="{73214D43-F5A8-F900-5F51-E288C2D90BE7}"/>
              </a:ext>
            </a:extLst>
          </p:cNvPr>
          <p:cNvSpPr/>
          <p:nvPr/>
        </p:nvSpPr>
        <p:spPr>
          <a:xfrm>
            <a:off x="1994227" y="5660136"/>
            <a:ext cx="10789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sz="1400" b="0" dirty="0">
              <a:solidFill>
                <a:srgbClr val="6B5A64"/>
              </a:solidFill>
              <a:latin typeface="Arial"/>
            </a:endParaRPr>
          </a:p>
        </p:txBody>
      </p:sp>
      <p:pic>
        <p:nvPicPr>
          <p:cNvPr id="31" name="Picture 30">
            <a:extLst>
              <a:ext uri="{FF2B5EF4-FFF2-40B4-BE49-F238E27FC236}">
                <a16:creationId xmlns:a16="http://schemas.microsoft.com/office/drawing/2014/main" id="{4C7A44E1-1ACA-8B37-34C6-14CA1066DF55}"/>
              </a:ext>
            </a:extLst>
          </p:cNvPr>
          <p:cNvPicPr>
            <a:picLocks noChangeAspect="1"/>
          </p:cNvPicPr>
          <p:nvPr/>
        </p:nvPicPr>
        <p:blipFill>
          <a:blip r:embed="rId4"/>
          <a:stretch>
            <a:fillRect/>
          </a:stretch>
        </p:blipFill>
        <p:spPr>
          <a:xfrm>
            <a:off x="859689" y="1033272"/>
            <a:ext cx="10472316" cy="5340096"/>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47472"/>
            <a:ext cx="10789920" cy="548640"/>
          </a:xfrm>
        </p:spPr>
        <p:txBody>
          <a:bodyPr anchor="ctr"/>
          <a:lstStyle/>
          <a:p>
            <a:pPr algn="l"/>
            <a:r>
              <a:rPr sz="2800" b="1">
                <a:solidFill>
                  <a:srgbClr val="75013F"/>
                </a:solidFill>
                <a:latin typeface="Arial"/>
              </a:rPr>
              <a:t>System Architecture</a:t>
            </a:r>
          </a:p>
        </p:txBody>
      </p:sp>
      <p:sp>
        <p:nvSpPr>
          <p:cNvPr id="3" name="Rectangle 2"/>
          <p:cNvSpPr/>
          <p:nvPr/>
        </p:nvSpPr>
        <p:spPr>
          <a:xfrm>
            <a:off x="0" y="0"/>
            <a:ext cx="12191695" cy="109728"/>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4" name="Rectangle 3"/>
          <p:cNvSpPr/>
          <p:nvPr/>
        </p:nvSpPr>
        <p:spPr>
          <a:xfrm>
            <a:off x="548640" y="411480"/>
            <a:ext cx="82296" cy="731520"/>
          </a:xfrm>
          <a:prstGeom prst="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5" name="Rectangle 4"/>
          <p:cNvSpPr/>
          <p:nvPr/>
        </p:nvSpPr>
        <p:spPr>
          <a:xfrm>
            <a:off x="731520" y="868680"/>
            <a:ext cx="10789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0">
                <a:solidFill>
                  <a:srgbClr val="6B5A64"/>
                </a:solidFill>
                <a:latin typeface="Arial"/>
              </a:rPr>
              <a:t>One gateway, seven small services, one database each</a:t>
            </a:r>
          </a:p>
        </p:txBody>
      </p:sp>
      <p:sp>
        <p:nvSpPr>
          <p:cNvPr id="6" name="Rectangle 5"/>
          <p:cNvSpPr/>
          <p:nvPr/>
        </p:nvSpPr>
        <p:spPr>
          <a:xfrm>
            <a:off x="0" y="6446520"/>
            <a:ext cx="12191695" cy="411480"/>
          </a:xfrm>
          <a:prstGeom prst="rect">
            <a:avLst/>
          </a:prstGeom>
          <a:solidFill>
            <a:srgbClr val="F4F1F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7" name="Rectangle 6"/>
          <p:cNvSpPr/>
          <p:nvPr/>
        </p:nvSpPr>
        <p:spPr>
          <a:xfrm>
            <a:off x="548640" y="6492240"/>
            <a:ext cx="82296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000" b="0">
                <a:solidFill>
                  <a:srgbClr val="6B5A64"/>
                </a:solidFill>
                <a:latin typeface="Arial"/>
              </a:rPr>
              <a:t>UptimeShield  |  Parametric Business-Interruption Insurance Platform</a:t>
            </a:r>
          </a:p>
        </p:txBody>
      </p:sp>
      <p:sp>
        <p:nvSpPr>
          <p:cNvPr id="8" name="Rectangle 7"/>
          <p:cNvSpPr/>
          <p:nvPr/>
        </p:nvSpPr>
        <p:spPr>
          <a:xfrm>
            <a:off x="10881360" y="6492240"/>
            <a:ext cx="8229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r"/>
            <a:r>
              <a:rPr sz="1000" b="1">
                <a:solidFill>
                  <a:srgbClr val="75013F"/>
                </a:solidFill>
                <a:latin typeface="Arial"/>
              </a:rPr>
              <a:t>5</a:t>
            </a:r>
          </a:p>
        </p:txBody>
      </p:sp>
      <p:pic>
        <p:nvPicPr>
          <p:cNvPr id="9" name="Picture 8" descr="shield.png"/>
          <p:cNvPicPr>
            <a:picLocks noChangeAspect="1"/>
          </p:cNvPicPr>
          <p:nvPr/>
        </p:nvPicPr>
        <p:blipFill>
          <a:blip r:embed="rId3"/>
          <a:stretch>
            <a:fillRect/>
          </a:stretch>
        </p:blipFill>
        <p:spPr>
          <a:xfrm>
            <a:off x="11109960" y="320040"/>
            <a:ext cx="685800" cy="685800"/>
          </a:xfrm>
          <a:prstGeom prst="rect">
            <a:avLst/>
          </a:prstGeom>
        </p:spPr>
      </p:pic>
      <p:pic>
        <p:nvPicPr>
          <p:cNvPr id="31" name="Picture 30">
            <a:extLst>
              <a:ext uri="{FF2B5EF4-FFF2-40B4-BE49-F238E27FC236}">
                <a16:creationId xmlns:a16="http://schemas.microsoft.com/office/drawing/2014/main" id="{29999B63-362A-6E2C-5A18-E1254762927B}"/>
              </a:ext>
            </a:extLst>
          </p:cNvPr>
          <p:cNvPicPr>
            <a:picLocks noChangeAspect="1"/>
          </p:cNvPicPr>
          <p:nvPr/>
        </p:nvPicPr>
        <p:blipFill>
          <a:blip r:embed="rId4"/>
          <a:stretch>
            <a:fillRect/>
          </a:stretch>
        </p:blipFill>
        <p:spPr>
          <a:xfrm>
            <a:off x="1268361" y="1472991"/>
            <a:ext cx="9612999" cy="4734977"/>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47472"/>
            <a:ext cx="10789920" cy="548640"/>
          </a:xfrm>
        </p:spPr>
        <p:txBody>
          <a:bodyPr anchor="ctr"/>
          <a:lstStyle/>
          <a:p>
            <a:pPr algn="l"/>
            <a:r>
              <a:rPr sz="2800" b="1">
                <a:solidFill>
                  <a:srgbClr val="75013F"/>
                </a:solidFill>
                <a:latin typeface="Arial"/>
              </a:rPr>
              <a:t>How We Built It</a:t>
            </a:r>
          </a:p>
        </p:txBody>
      </p:sp>
      <p:sp>
        <p:nvSpPr>
          <p:cNvPr id="3" name="Rectangle 2"/>
          <p:cNvSpPr/>
          <p:nvPr/>
        </p:nvSpPr>
        <p:spPr>
          <a:xfrm>
            <a:off x="0" y="0"/>
            <a:ext cx="12191695" cy="109728"/>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4" name="Rectangle 3"/>
          <p:cNvSpPr/>
          <p:nvPr/>
        </p:nvSpPr>
        <p:spPr>
          <a:xfrm>
            <a:off x="548640" y="411480"/>
            <a:ext cx="82296" cy="731520"/>
          </a:xfrm>
          <a:prstGeom prst="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5" name="Rectangle 4"/>
          <p:cNvSpPr/>
          <p:nvPr/>
        </p:nvSpPr>
        <p:spPr>
          <a:xfrm>
            <a:off x="731520" y="868680"/>
            <a:ext cx="10789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0">
                <a:solidFill>
                  <a:srgbClr val="6B5A64"/>
                </a:solidFill>
                <a:latin typeface="Arial"/>
              </a:rPr>
              <a:t>Frontend, backend, data, security and quality</a:t>
            </a:r>
          </a:p>
        </p:txBody>
      </p:sp>
      <p:sp>
        <p:nvSpPr>
          <p:cNvPr id="6" name="Rectangle 5"/>
          <p:cNvSpPr/>
          <p:nvPr/>
        </p:nvSpPr>
        <p:spPr>
          <a:xfrm>
            <a:off x="0" y="6446520"/>
            <a:ext cx="12191695" cy="411480"/>
          </a:xfrm>
          <a:prstGeom prst="rect">
            <a:avLst/>
          </a:prstGeom>
          <a:solidFill>
            <a:srgbClr val="F4F1F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7" name="Rectangle 6"/>
          <p:cNvSpPr/>
          <p:nvPr/>
        </p:nvSpPr>
        <p:spPr>
          <a:xfrm>
            <a:off x="548640" y="6492240"/>
            <a:ext cx="82296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000" b="0">
                <a:solidFill>
                  <a:srgbClr val="6B5A64"/>
                </a:solidFill>
                <a:latin typeface="Arial"/>
              </a:rPr>
              <a:t>UptimeShield  |  Parametric Business-Interruption Insurance Platform</a:t>
            </a:r>
          </a:p>
        </p:txBody>
      </p:sp>
      <p:sp>
        <p:nvSpPr>
          <p:cNvPr id="8" name="Rectangle 7"/>
          <p:cNvSpPr/>
          <p:nvPr/>
        </p:nvSpPr>
        <p:spPr>
          <a:xfrm>
            <a:off x="10881360" y="6492240"/>
            <a:ext cx="8229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r"/>
            <a:r>
              <a:rPr sz="1000" b="1">
                <a:solidFill>
                  <a:srgbClr val="75013F"/>
                </a:solidFill>
                <a:latin typeface="Arial"/>
              </a:rPr>
              <a:t>6</a:t>
            </a:r>
          </a:p>
        </p:txBody>
      </p:sp>
      <p:pic>
        <p:nvPicPr>
          <p:cNvPr id="9" name="Picture 8" descr="shield.png"/>
          <p:cNvPicPr>
            <a:picLocks noChangeAspect="1"/>
          </p:cNvPicPr>
          <p:nvPr/>
        </p:nvPicPr>
        <p:blipFill>
          <a:blip r:embed="rId3"/>
          <a:stretch>
            <a:fillRect/>
          </a:stretch>
        </p:blipFill>
        <p:spPr>
          <a:xfrm>
            <a:off x="11109960" y="320040"/>
            <a:ext cx="685800" cy="685800"/>
          </a:xfrm>
          <a:prstGeom prst="rect">
            <a:avLst/>
          </a:prstGeom>
        </p:spPr>
      </p:pic>
      <p:sp>
        <p:nvSpPr>
          <p:cNvPr id="10" name="Rectangle 9"/>
          <p:cNvSpPr/>
          <p:nvPr/>
        </p:nvSpPr>
        <p:spPr>
          <a:xfrm>
            <a:off x="731520" y="1554480"/>
            <a:ext cx="2560320" cy="640080"/>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600" b="1">
                <a:solidFill>
                  <a:srgbClr val="FFFFFF"/>
                </a:solidFill>
                <a:latin typeface="Arial"/>
              </a:rPr>
              <a:t>Frontend</a:t>
            </a:r>
          </a:p>
        </p:txBody>
      </p:sp>
      <p:sp>
        <p:nvSpPr>
          <p:cNvPr id="11" name="Rectangle 10"/>
          <p:cNvSpPr/>
          <p:nvPr/>
        </p:nvSpPr>
        <p:spPr>
          <a:xfrm>
            <a:off x="731520" y="2194560"/>
            <a:ext cx="2560320" cy="292608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2" name="TextBox 11"/>
          <p:cNvSpPr txBox="1"/>
          <p:nvPr/>
        </p:nvSpPr>
        <p:spPr>
          <a:xfrm>
            <a:off x="822960" y="2331720"/>
            <a:ext cx="2377440" cy="2743200"/>
          </a:xfrm>
          <a:prstGeom prst="rect">
            <a:avLst/>
          </a:prstGeom>
          <a:noFill/>
        </p:spPr>
        <p:txBody>
          <a:bodyPr wrap="square">
            <a:spAutoFit/>
          </a:bodyPr>
          <a:lstStyle/>
          <a:p>
            <a:pPr>
              <a:spcAft>
                <a:spcPts val="700"/>
              </a:spcAft>
            </a:pPr>
            <a:r>
              <a:rPr sz="1000">
                <a:solidFill>
                  <a:srgbClr val="FE3082"/>
                </a:solidFill>
              </a:rPr>
              <a:t>■  </a:t>
            </a:r>
            <a:r>
              <a:rPr sz="1500">
                <a:solidFill>
                  <a:srgbClr val="29252A"/>
                </a:solidFill>
                <a:latin typeface="Arial"/>
              </a:rPr>
              <a:t>Angular</a:t>
            </a:r>
          </a:p>
          <a:p>
            <a:pPr>
              <a:spcAft>
                <a:spcPts val="700"/>
              </a:spcAft>
            </a:pPr>
            <a:r>
              <a:rPr sz="1000">
                <a:solidFill>
                  <a:srgbClr val="FE3082"/>
                </a:solidFill>
              </a:rPr>
              <a:t>■  </a:t>
            </a:r>
            <a:r>
              <a:rPr sz="1500">
                <a:solidFill>
                  <a:srgbClr val="29252A"/>
                </a:solidFill>
                <a:latin typeface="Arial"/>
              </a:rPr>
              <a:t>TypeScript</a:t>
            </a:r>
          </a:p>
          <a:p>
            <a:pPr>
              <a:spcAft>
                <a:spcPts val="700"/>
              </a:spcAft>
            </a:pPr>
            <a:r>
              <a:rPr sz="1000">
                <a:solidFill>
                  <a:srgbClr val="FE3082"/>
                </a:solidFill>
              </a:rPr>
              <a:t>■  </a:t>
            </a:r>
            <a:r>
              <a:rPr sz="1500">
                <a:solidFill>
                  <a:srgbClr val="29252A"/>
                </a:solidFill>
                <a:latin typeface="Arial"/>
              </a:rPr>
              <a:t>NgRx and RxJS</a:t>
            </a:r>
          </a:p>
          <a:p>
            <a:pPr>
              <a:spcAft>
                <a:spcPts val="700"/>
              </a:spcAft>
            </a:pPr>
            <a:r>
              <a:rPr sz="1000">
                <a:solidFill>
                  <a:srgbClr val="FE3082"/>
                </a:solidFill>
              </a:rPr>
              <a:t>■  </a:t>
            </a:r>
            <a:r>
              <a:rPr sz="1500">
                <a:solidFill>
                  <a:srgbClr val="29252A"/>
                </a:solidFill>
                <a:latin typeface="Arial"/>
              </a:rPr>
              <a:t>Tailwind CSS</a:t>
            </a:r>
          </a:p>
        </p:txBody>
      </p:sp>
      <p:sp>
        <p:nvSpPr>
          <p:cNvPr id="13" name="Rectangle 12"/>
          <p:cNvSpPr/>
          <p:nvPr/>
        </p:nvSpPr>
        <p:spPr>
          <a:xfrm>
            <a:off x="3474720" y="1554480"/>
            <a:ext cx="2560320" cy="640080"/>
          </a:xfrm>
          <a:prstGeom prst="rect">
            <a:avLst/>
          </a:prstGeom>
          <a:solidFill>
            <a:srgbClr val="3E0121"/>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600" b="1">
                <a:solidFill>
                  <a:srgbClr val="FFFFFF"/>
                </a:solidFill>
                <a:latin typeface="Arial"/>
              </a:rPr>
              <a:t>Backend</a:t>
            </a:r>
          </a:p>
        </p:txBody>
      </p:sp>
      <p:sp>
        <p:nvSpPr>
          <p:cNvPr id="14" name="Rectangle 13"/>
          <p:cNvSpPr/>
          <p:nvPr/>
        </p:nvSpPr>
        <p:spPr>
          <a:xfrm>
            <a:off x="3474720" y="2194560"/>
            <a:ext cx="2560320" cy="292608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5" name="TextBox 14"/>
          <p:cNvSpPr txBox="1"/>
          <p:nvPr/>
        </p:nvSpPr>
        <p:spPr>
          <a:xfrm>
            <a:off x="3566160" y="2331720"/>
            <a:ext cx="2377440" cy="2743200"/>
          </a:xfrm>
          <a:prstGeom prst="rect">
            <a:avLst/>
          </a:prstGeom>
          <a:noFill/>
        </p:spPr>
        <p:txBody>
          <a:bodyPr wrap="square">
            <a:spAutoFit/>
          </a:bodyPr>
          <a:lstStyle/>
          <a:p>
            <a:pPr>
              <a:spcAft>
                <a:spcPts val="700"/>
              </a:spcAft>
            </a:pPr>
            <a:r>
              <a:rPr sz="1000" dirty="0">
                <a:solidFill>
                  <a:srgbClr val="FE3082"/>
                </a:solidFill>
              </a:rPr>
              <a:t>■  </a:t>
            </a:r>
            <a:r>
              <a:rPr sz="1500" dirty="0">
                <a:solidFill>
                  <a:srgbClr val="29252A"/>
                </a:solidFill>
                <a:latin typeface="Arial"/>
              </a:rPr>
              <a:t>Java 17</a:t>
            </a:r>
          </a:p>
          <a:p>
            <a:pPr>
              <a:spcAft>
                <a:spcPts val="700"/>
              </a:spcAft>
            </a:pPr>
            <a:r>
              <a:rPr sz="1000" dirty="0">
                <a:solidFill>
                  <a:srgbClr val="FE3082"/>
                </a:solidFill>
              </a:rPr>
              <a:t>■  </a:t>
            </a:r>
            <a:r>
              <a:rPr sz="1500" dirty="0">
                <a:solidFill>
                  <a:srgbClr val="29252A"/>
                </a:solidFill>
                <a:latin typeface="Arial"/>
              </a:rPr>
              <a:t>Spring Boot 3.5.6</a:t>
            </a:r>
          </a:p>
          <a:p>
            <a:pPr>
              <a:spcAft>
                <a:spcPts val="700"/>
              </a:spcAft>
            </a:pPr>
            <a:r>
              <a:rPr sz="1000" dirty="0">
                <a:solidFill>
                  <a:srgbClr val="FE3082"/>
                </a:solidFill>
              </a:rPr>
              <a:t>■  </a:t>
            </a:r>
            <a:r>
              <a:rPr sz="1500" dirty="0">
                <a:solidFill>
                  <a:srgbClr val="29252A"/>
                </a:solidFill>
                <a:latin typeface="Arial"/>
              </a:rPr>
              <a:t>Spring </a:t>
            </a:r>
            <a:r>
              <a:rPr sz="1500" dirty="0" err="1">
                <a:solidFill>
                  <a:srgbClr val="29252A"/>
                </a:solidFill>
                <a:latin typeface="Arial"/>
              </a:rPr>
              <a:t>WebFlux</a:t>
            </a:r>
            <a:endParaRPr sz="1500" dirty="0">
              <a:solidFill>
                <a:srgbClr val="29252A"/>
              </a:solidFill>
              <a:latin typeface="Arial"/>
            </a:endParaRPr>
          </a:p>
          <a:p>
            <a:pPr>
              <a:spcAft>
                <a:spcPts val="700"/>
              </a:spcAft>
            </a:pPr>
            <a:r>
              <a:rPr sz="1000" dirty="0">
                <a:solidFill>
                  <a:srgbClr val="FE3082"/>
                </a:solidFill>
              </a:rPr>
              <a:t>■  </a:t>
            </a:r>
            <a:r>
              <a:rPr sz="1500" dirty="0">
                <a:solidFill>
                  <a:srgbClr val="29252A"/>
                </a:solidFill>
                <a:latin typeface="Arial"/>
              </a:rPr>
              <a:t>R2DBC</a:t>
            </a:r>
          </a:p>
        </p:txBody>
      </p:sp>
      <p:sp>
        <p:nvSpPr>
          <p:cNvPr id="16" name="Rectangle 15"/>
          <p:cNvSpPr/>
          <p:nvPr/>
        </p:nvSpPr>
        <p:spPr>
          <a:xfrm>
            <a:off x="6217920" y="1554480"/>
            <a:ext cx="2560320" cy="640080"/>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600" b="1">
                <a:solidFill>
                  <a:srgbClr val="FFFFFF"/>
                </a:solidFill>
                <a:latin typeface="Arial"/>
              </a:rPr>
              <a:t>Data and Platform</a:t>
            </a:r>
          </a:p>
        </p:txBody>
      </p:sp>
      <p:sp>
        <p:nvSpPr>
          <p:cNvPr id="17" name="Rectangle 16"/>
          <p:cNvSpPr/>
          <p:nvPr/>
        </p:nvSpPr>
        <p:spPr>
          <a:xfrm>
            <a:off x="6217920" y="2194560"/>
            <a:ext cx="2560320" cy="292608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8" name="TextBox 17"/>
          <p:cNvSpPr txBox="1"/>
          <p:nvPr/>
        </p:nvSpPr>
        <p:spPr>
          <a:xfrm>
            <a:off x="6309359" y="2331720"/>
            <a:ext cx="2377440" cy="2743200"/>
          </a:xfrm>
          <a:prstGeom prst="rect">
            <a:avLst/>
          </a:prstGeom>
          <a:noFill/>
        </p:spPr>
        <p:txBody>
          <a:bodyPr wrap="square">
            <a:spAutoFit/>
          </a:bodyPr>
          <a:lstStyle/>
          <a:p>
            <a:pPr>
              <a:spcAft>
                <a:spcPts val="700"/>
              </a:spcAft>
            </a:pPr>
            <a:r>
              <a:rPr sz="1000">
                <a:solidFill>
                  <a:srgbClr val="FE3082"/>
                </a:solidFill>
              </a:rPr>
              <a:t>■  </a:t>
            </a:r>
            <a:r>
              <a:rPr sz="1500">
                <a:solidFill>
                  <a:srgbClr val="29252A"/>
                </a:solidFill>
                <a:latin typeface="Arial"/>
              </a:rPr>
              <a:t>MySQL (one per service)</a:t>
            </a:r>
          </a:p>
          <a:p>
            <a:pPr>
              <a:spcAft>
                <a:spcPts val="700"/>
              </a:spcAft>
            </a:pPr>
            <a:r>
              <a:rPr sz="1000">
                <a:solidFill>
                  <a:srgbClr val="FE3082"/>
                </a:solidFill>
              </a:rPr>
              <a:t>■  </a:t>
            </a:r>
            <a:r>
              <a:rPr sz="1500">
                <a:solidFill>
                  <a:srgbClr val="29252A"/>
                </a:solidFill>
                <a:latin typeface="Arial"/>
              </a:rPr>
              <a:t>Eureka discovery</a:t>
            </a:r>
          </a:p>
          <a:p>
            <a:pPr>
              <a:spcAft>
                <a:spcPts val="700"/>
              </a:spcAft>
            </a:pPr>
            <a:r>
              <a:rPr sz="1000">
                <a:solidFill>
                  <a:srgbClr val="FE3082"/>
                </a:solidFill>
              </a:rPr>
              <a:t>■  </a:t>
            </a:r>
            <a:r>
              <a:rPr sz="1500">
                <a:solidFill>
                  <a:srgbClr val="29252A"/>
                </a:solidFill>
                <a:latin typeface="Arial"/>
              </a:rPr>
              <a:t>Spring Cloud Gateway</a:t>
            </a:r>
          </a:p>
          <a:p>
            <a:pPr>
              <a:spcAft>
                <a:spcPts val="700"/>
              </a:spcAft>
            </a:pPr>
            <a:r>
              <a:rPr sz="1000">
                <a:solidFill>
                  <a:srgbClr val="FE3082"/>
                </a:solidFill>
              </a:rPr>
              <a:t>■  </a:t>
            </a:r>
            <a:r>
              <a:rPr sz="1500">
                <a:solidFill>
                  <a:srgbClr val="29252A"/>
                </a:solidFill>
                <a:latin typeface="Arial"/>
              </a:rPr>
              <a:t>WebClient calls</a:t>
            </a:r>
          </a:p>
        </p:txBody>
      </p:sp>
      <p:sp>
        <p:nvSpPr>
          <p:cNvPr id="19" name="Rectangle 18"/>
          <p:cNvSpPr/>
          <p:nvPr/>
        </p:nvSpPr>
        <p:spPr>
          <a:xfrm>
            <a:off x="8961120" y="1554480"/>
            <a:ext cx="2560320" cy="640080"/>
          </a:xfrm>
          <a:prstGeom prst="rect">
            <a:avLst/>
          </a:prstGeom>
          <a:solidFill>
            <a:srgbClr val="3E0121"/>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600" b="1">
                <a:solidFill>
                  <a:srgbClr val="FFFFFF"/>
                </a:solidFill>
                <a:latin typeface="Arial"/>
              </a:rPr>
              <a:t>Security and Quality</a:t>
            </a:r>
          </a:p>
        </p:txBody>
      </p:sp>
      <p:sp>
        <p:nvSpPr>
          <p:cNvPr id="20" name="Rectangle 19"/>
          <p:cNvSpPr/>
          <p:nvPr/>
        </p:nvSpPr>
        <p:spPr>
          <a:xfrm>
            <a:off x="8961120" y="2194560"/>
            <a:ext cx="2560320" cy="292608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21" name="TextBox 20"/>
          <p:cNvSpPr txBox="1"/>
          <p:nvPr/>
        </p:nvSpPr>
        <p:spPr>
          <a:xfrm>
            <a:off x="9052560" y="2331720"/>
            <a:ext cx="2377440" cy="2743200"/>
          </a:xfrm>
          <a:prstGeom prst="rect">
            <a:avLst/>
          </a:prstGeom>
          <a:noFill/>
        </p:spPr>
        <p:txBody>
          <a:bodyPr wrap="square">
            <a:spAutoFit/>
          </a:bodyPr>
          <a:lstStyle/>
          <a:p>
            <a:pPr>
              <a:spcAft>
                <a:spcPts val="700"/>
              </a:spcAft>
            </a:pPr>
            <a:r>
              <a:rPr sz="1000">
                <a:solidFill>
                  <a:srgbClr val="FE3082"/>
                </a:solidFill>
              </a:rPr>
              <a:t>■  </a:t>
            </a:r>
            <a:r>
              <a:rPr sz="1500">
                <a:solidFill>
                  <a:srgbClr val="29252A"/>
                </a:solidFill>
                <a:latin typeface="Arial"/>
              </a:rPr>
              <a:t>JWT login at gateway</a:t>
            </a:r>
          </a:p>
          <a:p>
            <a:pPr>
              <a:spcAft>
                <a:spcPts val="700"/>
              </a:spcAft>
            </a:pPr>
            <a:r>
              <a:rPr sz="1000">
                <a:solidFill>
                  <a:srgbClr val="FE3082"/>
                </a:solidFill>
              </a:rPr>
              <a:t>■  </a:t>
            </a:r>
            <a:r>
              <a:rPr sz="1500">
                <a:solidFill>
                  <a:srgbClr val="29252A"/>
                </a:solidFill>
                <a:latin typeface="Arial"/>
              </a:rPr>
              <a:t>Roles in the token</a:t>
            </a:r>
          </a:p>
          <a:p>
            <a:pPr>
              <a:spcAft>
                <a:spcPts val="700"/>
              </a:spcAft>
            </a:pPr>
            <a:r>
              <a:rPr sz="1000">
                <a:solidFill>
                  <a:srgbClr val="FE3082"/>
                </a:solidFill>
              </a:rPr>
              <a:t>■  </a:t>
            </a:r>
            <a:r>
              <a:rPr sz="1500">
                <a:solidFill>
                  <a:srgbClr val="29252A"/>
                </a:solidFill>
                <a:latin typeface="Arial"/>
              </a:rPr>
              <a:t>JUnit 5 and Mockito</a:t>
            </a:r>
          </a:p>
          <a:p>
            <a:pPr>
              <a:spcAft>
                <a:spcPts val="700"/>
              </a:spcAft>
            </a:pPr>
            <a:r>
              <a:rPr sz="1000">
                <a:solidFill>
                  <a:srgbClr val="FE3082"/>
                </a:solidFill>
              </a:rPr>
              <a:t>■  </a:t>
            </a:r>
            <a:r>
              <a:rPr sz="1500">
                <a:solidFill>
                  <a:srgbClr val="29252A"/>
                </a:solidFill>
                <a:latin typeface="Arial"/>
              </a:rPr>
              <a:t>Actuator monitoring</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47472"/>
            <a:ext cx="10789920" cy="548640"/>
          </a:xfrm>
        </p:spPr>
        <p:txBody>
          <a:bodyPr anchor="ctr"/>
          <a:lstStyle/>
          <a:p>
            <a:pPr algn="l"/>
            <a:r>
              <a:rPr sz="2800" b="1">
                <a:solidFill>
                  <a:srgbClr val="75013F"/>
                </a:solidFill>
                <a:latin typeface="Arial"/>
              </a:rPr>
              <a:t>Backup: How a Payout Is Decided</a:t>
            </a:r>
          </a:p>
        </p:txBody>
      </p:sp>
      <p:sp>
        <p:nvSpPr>
          <p:cNvPr id="3" name="Rectangle 2"/>
          <p:cNvSpPr/>
          <p:nvPr/>
        </p:nvSpPr>
        <p:spPr>
          <a:xfrm>
            <a:off x="0" y="0"/>
            <a:ext cx="12191695" cy="109728"/>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4" name="Rectangle 3"/>
          <p:cNvSpPr/>
          <p:nvPr/>
        </p:nvSpPr>
        <p:spPr>
          <a:xfrm>
            <a:off x="548640" y="411480"/>
            <a:ext cx="82296" cy="731520"/>
          </a:xfrm>
          <a:prstGeom prst="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5" name="Rectangle 4"/>
          <p:cNvSpPr/>
          <p:nvPr/>
        </p:nvSpPr>
        <p:spPr>
          <a:xfrm>
            <a:off x="731520" y="868680"/>
            <a:ext cx="10789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0">
                <a:solidFill>
                  <a:srgbClr val="6B5A64"/>
                </a:solidFill>
                <a:latin typeface="Arial"/>
              </a:rPr>
              <a:t>Five steps, kept separate</a:t>
            </a:r>
          </a:p>
        </p:txBody>
      </p:sp>
      <p:sp>
        <p:nvSpPr>
          <p:cNvPr id="6" name="Rectangle 5"/>
          <p:cNvSpPr/>
          <p:nvPr/>
        </p:nvSpPr>
        <p:spPr>
          <a:xfrm>
            <a:off x="0" y="6446520"/>
            <a:ext cx="12191695" cy="411480"/>
          </a:xfrm>
          <a:prstGeom prst="rect">
            <a:avLst/>
          </a:prstGeom>
          <a:solidFill>
            <a:srgbClr val="F4F1F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7" name="Rectangle 6"/>
          <p:cNvSpPr/>
          <p:nvPr/>
        </p:nvSpPr>
        <p:spPr>
          <a:xfrm>
            <a:off x="548640" y="6492240"/>
            <a:ext cx="82296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000" b="0">
                <a:solidFill>
                  <a:srgbClr val="6B5A64"/>
                </a:solidFill>
                <a:latin typeface="Arial"/>
              </a:rPr>
              <a:t>UptimeShield  |  Parametric Business-Interruption Insurance Platform</a:t>
            </a:r>
          </a:p>
        </p:txBody>
      </p:sp>
      <p:sp>
        <p:nvSpPr>
          <p:cNvPr id="8" name="Rectangle 7"/>
          <p:cNvSpPr/>
          <p:nvPr/>
        </p:nvSpPr>
        <p:spPr>
          <a:xfrm>
            <a:off x="10881360" y="6492240"/>
            <a:ext cx="8229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r"/>
            <a:r>
              <a:rPr sz="1000" b="1">
                <a:solidFill>
                  <a:srgbClr val="75013F"/>
                </a:solidFill>
                <a:latin typeface="Arial"/>
              </a:rPr>
              <a:t>9</a:t>
            </a:r>
          </a:p>
        </p:txBody>
      </p:sp>
      <p:pic>
        <p:nvPicPr>
          <p:cNvPr id="9" name="Picture 8" descr="shield.png"/>
          <p:cNvPicPr>
            <a:picLocks noChangeAspect="1"/>
          </p:cNvPicPr>
          <p:nvPr/>
        </p:nvPicPr>
        <p:blipFill>
          <a:blip r:embed="rId3"/>
          <a:stretch>
            <a:fillRect/>
          </a:stretch>
        </p:blipFill>
        <p:spPr>
          <a:xfrm>
            <a:off x="11109960" y="320040"/>
            <a:ext cx="685800" cy="685800"/>
          </a:xfrm>
          <a:prstGeom prst="rect">
            <a:avLst/>
          </a:prstGeom>
        </p:spPr>
      </p:pic>
      <p:sp>
        <p:nvSpPr>
          <p:cNvPr id="10" name="Pentagon 9"/>
          <p:cNvSpPr/>
          <p:nvPr/>
        </p:nvSpPr>
        <p:spPr>
          <a:xfrm>
            <a:off x="731520" y="1554480"/>
            <a:ext cx="2011680" cy="731520"/>
          </a:xfrm>
          <a:prstGeom prst="homePlate">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400" b="1">
                <a:solidFill>
                  <a:srgbClr val="FFFFFF"/>
                </a:solidFill>
                <a:latin typeface="Arial"/>
              </a:rPr>
              <a:t>Observed outage</a:t>
            </a:r>
          </a:p>
        </p:txBody>
      </p:sp>
      <p:sp>
        <p:nvSpPr>
          <p:cNvPr id="11" name="Rectangle 10"/>
          <p:cNvSpPr/>
          <p:nvPr/>
        </p:nvSpPr>
        <p:spPr>
          <a:xfrm>
            <a:off x="731520" y="2468880"/>
            <a:ext cx="2011680" cy="155448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0">
                <a:solidFill>
                  <a:srgbClr val="29252A"/>
                </a:solidFill>
                <a:latin typeface="Arial"/>
              </a:rPr>
              <a:t>Provider outage with start and end time</a:t>
            </a:r>
          </a:p>
        </p:txBody>
      </p:sp>
      <p:sp>
        <p:nvSpPr>
          <p:cNvPr id="12" name="Pentagon 11"/>
          <p:cNvSpPr/>
          <p:nvPr/>
        </p:nvSpPr>
        <p:spPr>
          <a:xfrm>
            <a:off x="2926080" y="1554480"/>
            <a:ext cx="2011680" cy="731520"/>
          </a:xfrm>
          <a:prstGeom prst="homePlate">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400" b="1">
                <a:solidFill>
                  <a:srgbClr val="FFFFFF"/>
                </a:solidFill>
                <a:latin typeface="Arial"/>
              </a:rPr>
              <a:t>Trigger condition</a:t>
            </a:r>
          </a:p>
        </p:txBody>
      </p:sp>
      <p:sp>
        <p:nvSpPr>
          <p:cNvPr id="13" name="Rectangle 12"/>
          <p:cNvSpPr/>
          <p:nvPr/>
        </p:nvSpPr>
        <p:spPr>
          <a:xfrm>
            <a:off x="2926080" y="2468880"/>
            <a:ext cx="2011680" cy="155448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0">
                <a:solidFill>
                  <a:srgbClr val="29252A"/>
                </a:solidFill>
                <a:latin typeface="Arial"/>
              </a:rPr>
              <a:t>Duration meets the agreed minutes</a:t>
            </a:r>
          </a:p>
        </p:txBody>
      </p:sp>
      <p:sp>
        <p:nvSpPr>
          <p:cNvPr id="14" name="Pentagon 13"/>
          <p:cNvSpPr/>
          <p:nvPr/>
        </p:nvSpPr>
        <p:spPr>
          <a:xfrm>
            <a:off x="5120640" y="1554480"/>
            <a:ext cx="2011680" cy="731520"/>
          </a:xfrm>
          <a:prstGeom prst="homePlate">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400" b="1">
                <a:solidFill>
                  <a:srgbClr val="FFFFFF"/>
                </a:solidFill>
                <a:latin typeface="Arial"/>
              </a:rPr>
              <a:t>Eligibility</a:t>
            </a:r>
          </a:p>
        </p:txBody>
      </p:sp>
      <p:sp>
        <p:nvSpPr>
          <p:cNvPr id="15" name="Rectangle 14"/>
          <p:cNvSpPr/>
          <p:nvPr/>
        </p:nvSpPr>
        <p:spPr>
          <a:xfrm>
            <a:off x="5120640" y="2468880"/>
            <a:ext cx="2011680" cy="155448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0">
                <a:solidFill>
                  <a:srgbClr val="29252A"/>
                </a:solidFill>
                <a:latin typeface="Arial"/>
              </a:rPr>
              <a:t>Triggered evaluation opens a claim</a:t>
            </a:r>
          </a:p>
        </p:txBody>
      </p:sp>
      <p:sp>
        <p:nvSpPr>
          <p:cNvPr id="16" name="Pentagon 15"/>
          <p:cNvSpPr/>
          <p:nvPr/>
        </p:nvSpPr>
        <p:spPr>
          <a:xfrm>
            <a:off x="7315199" y="1554480"/>
            <a:ext cx="2011680" cy="731520"/>
          </a:xfrm>
          <a:prstGeom prst="homePlate">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400" b="1">
                <a:solidFill>
                  <a:srgbClr val="FFFFFF"/>
                </a:solidFill>
                <a:latin typeface="Arial"/>
              </a:rPr>
              <a:t>Calculation</a:t>
            </a:r>
          </a:p>
        </p:txBody>
      </p:sp>
      <p:sp>
        <p:nvSpPr>
          <p:cNvPr id="17" name="Rectangle 16"/>
          <p:cNvSpPr/>
          <p:nvPr/>
        </p:nvSpPr>
        <p:spPr>
          <a:xfrm>
            <a:off x="7315199" y="2468880"/>
            <a:ext cx="2011680" cy="155448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0">
                <a:solidFill>
                  <a:srgbClr val="29252A"/>
                </a:solidFill>
                <a:latin typeface="Arial"/>
              </a:rPr>
              <a:t>Rate per ten minutes, limited by the cap</a:t>
            </a:r>
          </a:p>
        </p:txBody>
      </p:sp>
      <p:sp>
        <p:nvSpPr>
          <p:cNvPr id="18" name="Pentagon 17"/>
          <p:cNvSpPr/>
          <p:nvPr/>
        </p:nvSpPr>
        <p:spPr>
          <a:xfrm>
            <a:off x="9509760" y="1554480"/>
            <a:ext cx="2011680" cy="731520"/>
          </a:xfrm>
          <a:prstGeom prst="homePlate">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400" b="1">
                <a:solidFill>
                  <a:srgbClr val="FFFFFF"/>
                </a:solidFill>
                <a:latin typeface="Arial"/>
              </a:rPr>
              <a:t>Settlement</a:t>
            </a:r>
          </a:p>
        </p:txBody>
      </p:sp>
      <p:sp>
        <p:nvSpPr>
          <p:cNvPr id="19" name="Rectangle 18"/>
          <p:cNvSpPr/>
          <p:nvPr/>
        </p:nvSpPr>
        <p:spPr>
          <a:xfrm>
            <a:off x="9509760" y="2468880"/>
            <a:ext cx="2011680" cy="155448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0">
                <a:solidFill>
                  <a:srgbClr val="29252A"/>
                </a:solidFill>
                <a:latin typeface="Arial"/>
              </a:rPr>
              <a:t>Validated, approved, audited</a:t>
            </a:r>
          </a:p>
        </p:txBody>
      </p:sp>
      <p:sp>
        <p:nvSpPr>
          <p:cNvPr id="20" name="Rectangle 19"/>
          <p:cNvSpPr/>
          <p:nvPr/>
        </p:nvSpPr>
        <p:spPr>
          <a:xfrm>
            <a:off x="731520" y="4389120"/>
            <a:ext cx="10789920" cy="1463040"/>
          </a:xfrm>
          <a:prstGeom prst="rect">
            <a:avLst/>
          </a:prstGeom>
          <a:solidFill>
            <a:srgbClr val="FFFFFF"/>
          </a:solidFill>
          <a:ln w="19050">
            <a:solidFill>
              <a:srgbClr val="75013F"/>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500" b="0">
                <a:solidFill>
                  <a:srgbClr val="29252A"/>
                </a:solidFill>
                <a:latin typeface="Arial"/>
              </a:rPr>
              <a:t>Premium = risk score x active pricing rule multiplier. Underwriter can override within +/-20%.</a:t>
            </a:r>
          </a:p>
          <a:p>
            <a:pPr algn="l"/>
            <a:r>
              <a:rPr sz="1500" b="0">
                <a:solidFill>
                  <a:srgbClr val="29252A"/>
                </a:solidFill>
                <a:latin typeface="Arial"/>
              </a:rPr>
              <a:t>Coverage terms on every policy: thresholdMinutes, payoutRatePerTenMinutes, payoutCap.</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47472"/>
            <a:ext cx="10789920" cy="548640"/>
          </a:xfrm>
        </p:spPr>
        <p:txBody>
          <a:bodyPr anchor="ctr"/>
          <a:lstStyle/>
          <a:p>
            <a:pPr algn="l"/>
            <a:r>
              <a:rPr sz="2800" b="1">
                <a:solidFill>
                  <a:srgbClr val="75013F"/>
                </a:solidFill>
                <a:latin typeface="Arial"/>
              </a:rPr>
              <a:t>Backup: Microservices</a:t>
            </a:r>
          </a:p>
        </p:txBody>
      </p:sp>
      <p:sp>
        <p:nvSpPr>
          <p:cNvPr id="3" name="Rectangle 2"/>
          <p:cNvSpPr/>
          <p:nvPr/>
        </p:nvSpPr>
        <p:spPr>
          <a:xfrm>
            <a:off x="0" y="0"/>
            <a:ext cx="12191695" cy="109728"/>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4" name="Rectangle 3"/>
          <p:cNvSpPr/>
          <p:nvPr/>
        </p:nvSpPr>
        <p:spPr>
          <a:xfrm>
            <a:off x="548640" y="411480"/>
            <a:ext cx="82296" cy="731520"/>
          </a:xfrm>
          <a:prstGeom prst="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5" name="Rectangle 4"/>
          <p:cNvSpPr/>
          <p:nvPr/>
        </p:nvSpPr>
        <p:spPr>
          <a:xfrm>
            <a:off x="731520" y="868680"/>
            <a:ext cx="10789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0">
                <a:solidFill>
                  <a:srgbClr val="6B5A64"/>
                </a:solidFill>
                <a:latin typeface="Arial"/>
              </a:rPr>
              <a:t>Each service has one job</a:t>
            </a:r>
          </a:p>
        </p:txBody>
      </p:sp>
      <p:sp>
        <p:nvSpPr>
          <p:cNvPr id="6" name="Rectangle 5"/>
          <p:cNvSpPr/>
          <p:nvPr/>
        </p:nvSpPr>
        <p:spPr>
          <a:xfrm>
            <a:off x="0" y="6446520"/>
            <a:ext cx="12191695" cy="411480"/>
          </a:xfrm>
          <a:prstGeom prst="rect">
            <a:avLst/>
          </a:prstGeom>
          <a:solidFill>
            <a:srgbClr val="F4F1F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7" name="Rectangle 6"/>
          <p:cNvSpPr/>
          <p:nvPr/>
        </p:nvSpPr>
        <p:spPr>
          <a:xfrm>
            <a:off x="548640" y="6492240"/>
            <a:ext cx="82296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000" b="0">
                <a:solidFill>
                  <a:srgbClr val="6B5A64"/>
                </a:solidFill>
                <a:latin typeface="Arial"/>
              </a:rPr>
              <a:t>UptimeShield  |  Parametric Business-Interruption Insurance Platform</a:t>
            </a:r>
          </a:p>
        </p:txBody>
      </p:sp>
      <p:sp>
        <p:nvSpPr>
          <p:cNvPr id="8" name="Rectangle 7"/>
          <p:cNvSpPr/>
          <p:nvPr/>
        </p:nvSpPr>
        <p:spPr>
          <a:xfrm>
            <a:off x="10881360" y="6492240"/>
            <a:ext cx="8229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r"/>
            <a:r>
              <a:rPr sz="1000" b="1">
                <a:solidFill>
                  <a:srgbClr val="75013F"/>
                </a:solidFill>
                <a:latin typeface="Arial"/>
              </a:rPr>
              <a:t>10</a:t>
            </a:r>
          </a:p>
        </p:txBody>
      </p:sp>
      <p:pic>
        <p:nvPicPr>
          <p:cNvPr id="9" name="Picture 8" descr="shield.png"/>
          <p:cNvPicPr>
            <a:picLocks noChangeAspect="1"/>
          </p:cNvPicPr>
          <p:nvPr/>
        </p:nvPicPr>
        <p:blipFill>
          <a:blip r:embed="rId3"/>
          <a:stretch>
            <a:fillRect/>
          </a:stretch>
        </p:blipFill>
        <p:spPr>
          <a:xfrm>
            <a:off x="11109960" y="320040"/>
            <a:ext cx="685800" cy="685800"/>
          </a:xfrm>
          <a:prstGeom prst="rect">
            <a:avLst/>
          </a:prstGeom>
        </p:spPr>
      </p:pic>
      <p:graphicFrame>
        <p:nvGraphicFramePr>
          <p:cNvPr id="10" name="Table 9"/>
          <p:cNvGraphicFramePr>
            <a:graphicFrameLocks noGrp="1"/>
          </p:cNvGraphicFramePr>
          <p:nvPr/>
        </p:nvGraphicFramePr>
        <p:xfrm>
          <a:off x="731520" y="1417320"/>
          <a:ext cx="10789920" cy="4242816"/>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7132320">
                  <a:extLst>
                    <a:ext uri="{9D8B030D-6E8A-4147-A177-3AD203B41FA5}">
                      <a16:colId xmlns:a16="http://schemas.microsoft.com/office/drawing/2014/main" val="20002"/>
                    </a:ext>
                  </a:extLst>
                </a:gridCol>
              </a:tblGrid>
              <a:tr h="530352">
                <a:tc>
                  <a:txBody>
                    <a:bodyPr/>
                    <a:lstStyle/>
                    <a:p>
                      <a:r>
                        <a:rPr sz="1400" b="1">
                          <a:solidFill>
                            <a:srgbClr val="FFFFFF"/>
                          </a:solidFill>
                          <a:latin typeface="Arial"/>
                        </a:rPr>
                        <a:t>Service</a:t>
                      </a:r>
                    </a:p>
                  </a:txBody>
                  <a:tcPr marT="36576" marB="36576">
                    <a:solidFill>
                      <a:srgbClr val="75013F"/>
                    </a:solidFill>
                  </a:tcPr>
                </a:tc>
                <a:tc>
                  <a:txBody>
                    <a:bodyPr/>
                    <a:lstStyle/>
                    <a:p>
                      <a:r>
                        <a:rPr sz="1400" b="1">
                          <a:solidFill>
                            <a:srgbClr val="FFFFFF"/>
                          </a:solidFill>
                          <a:latin typeface="Arial"/>
                        </a:rPr>
                        <a:t>Port</a:t>
                      </a:r>
                    </a:p>
                  </a:txBody>
                  <a:tcPr marT="36576" marB="36576">
                    <a:solidFill>
                      <a:srgbClr val="75013F"/>
                    </a:solidFill>
                  </a:tcPr>
                </a:tc>
                <a:tc>
                  <a:txBody>
                    <a:bodyPr/>
                    <a:lstStyle/>
                    <a:p>
                      <a:r>
                        <a:rPr sz="1400" b="1">
                          <a:solidFill>
                            <a:srgbClr val="FFFFFF"/>
                          </a:solidFill>
                          <a:latin typeface="Arial"/>
                        </a:rPr>
                        <a:t>Job</a:t>
                      </a:r>
                    </a:p>
                  </a:txBody>
                  <a:tcPr marT="36576" marB="36576">
                    <a:solidFill>
                      <a:srgbClr val="75013F"/>
                    </a:solidFill>
                  </a:tcPr>
                </a:tc>
                <a:extLst>
                  <a:ext uri="{0D108BD9-81ED-4DB2-BD59-A6C34878D82A}">
                    <a16:rowId xmlns:a16="http://schemas.microsoft.com/office/drawing/2014/main" val="10000"/>
                  </a:ext>
                </a:extLst>
              </a:tr>
              <a:tr h="530352">
                <a:tc>
                  <a:txBody>
                    <a:bodyPr/>
                    <a:lstStyle/>
                    <a:p>
                      <a:r>
                        <a:rPr sz="1400" b="1">
                          <a:solidFill>
                            <a:srgbClr val="29252A"/>
                          </a:solidFill>
                          <a:latin typeface="Arial"/>
                        </a:rPr>
                        <a:t>Auth</a:t>
                      </a:r>
                    </a:p>
                  </a:txBody>
                  <a:tcPr marT="36576" marB="36576">
                    <a:solidFill>
                      <a:srgbClr val="FFFFFF"/>
                    </a:solidFill>
                  </a:tcPr>
                </a:tc>
                <a:tc>
                  <a:txBody>
                    <a:bodyPr/>
                    <a:lstStyle/>
                    <a:p>
                      <a:r>
                        <a:rPr sz="1400" b="0">
                          <a:solidFill>
                            <a:srgbClr val="29252A"/>
                          </a:solidFill>
                          <a:latin typeface="Arial"/>
                        </a:rPr>
                        <a:t>8081</a:t>
                      </a:r>
                    </a:p>
                  </a:txBody>
                  <a:tcPr marT="36576" marB="36576">
                    <a:solidFill>
                      <a:srgbClr val="FFFFFF"/>
                    </a:solidFill>
                  </a:tcPr>
                </a:tc>
                <a:tc>
                  <a:txBody>
                    <a:bodyPr/>
                    <a:lstStyle/>
                    <a:p>
                      <a:r>
                        <a:rPr sz="1400" b="0">
                          <a:solidFill>
                            <a:srgbClr val="29252A"/>
                          </a:solidFill>
                          <a:latin typeface="Arial"/>
                        </a:rPr>
                        <a:t>Register, login, issue JWT</a:t>
                      </a:r>
                    </a:p>
                  </a:txBody>
                  <a:tcPr marT="36576" marB="36576">
                    <a:solidFill>
                      <a:srgbClr val="FFFFFF"/>
                    </a:solidFill>
                  </a:tcPr>
                </a:tc>
                <a:extLst>
                  <a:ext uri="{0D108BD9-81ED-4DB2-BD59-A6C34878D82A}">
                    <a16:rowId xmlns:a16="http://schemas.microsoft.com/office/drawing/2014/main" val="10001"/>
                  </a:ext>
                </a:extLst>
              </a:tr>
              <a:tr h="530352">
                <a:tc>
                  <a:txBody>
                    <a:bodyPr/>
                    <a:lstStyle/>
                    <a:p>
                      <a:r>
                        <a:rPr sz="1400" b="1">
                          <a:solidFill>
                            <a:srgbClr val="29252A"/>
                          </a:solidFill>
                          <a:latin typeface="Arial"/>
                        </a:rPr>
                        <a:t>Policy</a:t>
                      </a:r>
                    </a:p>
                  </a:txBody>
                  <a:tcPr marT="36576" marB="36576">
                    <a:solidFill>
                      <a:srgbClr val="F4F1F3"/>
                    </a:solidFill>
                  </a:tcPr>
                </a:tc>
                <a:tc>
                  <a:txBody>
                    <a:bodyPr/>
                    <a:lstStyle/>
                    <a:p>
                      <a:r>
                        <a:rPr sz="1400" b="0">
                          <a:solidFill>
                            <a:srgbClr val="29252A"/>
                          </a:solidFill>
                          <a:latin typeface="Arial"/>
                        </a:rPr>
                        <a:t>8082</a:t>
                      </a:r>
                    </a:p>
                  </a:txBody>
                  <a:tcPr marT="36576" marB="36576">
                    <a:solidFill>
                      <a:srgbClr val="F4F1F3"/>
                    </a:solidFill>
                  </a:tcPr>
                </a:tc>
                <a:tc>
                  <a:txBody>
                    <a:bodyPr/>
                    <a:lstStyle/>
                    <a:p>
                      <a:r>
                        <a:rPr sz="1400" b="0">
                          <a:solidFill>
                            <a:srgbClr val="29252A"/>
                          </a:solidFill>
                          <a:latin typeface="Arial"/>
                        </a:rPr>
                        <a:t>Businesses, dependencies, policies, coverage terms</a:t>
                      </a:r>
                    </a:p>
                  </a:txBody>
                  <a:tcPr marT="36576" marB="36576">
                    <a:solidFill>
                      <a:srgbClr val="F4F1F3"/>
                    </a:solidFill>
                  </a:tcPr>
                </a:tc>
                <a:extLst>
                  <a:ext uri="{0D108BD9-81ED-4DB2-BD59-A6C34878D82A}">
                    <a16:rowId xmlns:a16="http://schemas.microsoft.com/office/drawing/2014/main" val="10002"/>
                  </a:ext>
                </a:extLst>
              </a:tr>
              <a:tr h="530352">
                <a:tc>
                  <a:txBody>
                    <a:bodyPr/>
                    <a:lstStyle/>
                    <a:p>
                      <a:r>
                        <a:rPr sz="1400" b="1">
                          <a:solidFill>
                            <a:srgbClr val="29252A"/>
                          </a:solidFill>
                          <a:latin typeface="Arial"/>
                        </a:rPr>
                        <a:t>Underwriting</a:t>
                      </a:r>
                    </a:p>
                  </a:txBody>
                  <a:tcPr marT="36576" marB="36576">
                    <a:solidFill>
                      <a:srgbClr val="FFFFFF"/>
                    </a:solidFill>
                  </a:tcPr>
                </a:tc>
                <a:tc>
                  <a:txBody>
                    <a:bodyPr/>
                    <a:lstStyle/>
                    <a:p>
                      <a:r>
                        <a:rPr sz="1400" b="0">
                          <a:solidFill>
                            <a:srgbClr val="29252A"/>
                          </a:solidFill>
                          <a:latin typeface="Arial"/>
                        </a:rPr>
                        <a:t>8083</a:t>
                      </a:r>
                    </a:p>
                  </a:txBody>
                  <a:tcPr marT="36576" marB="36576">
                    <a:solidFill>
                      <a:srgbClr val="FFFFFF"/>
                    </a:solidFill>
                  </a:tcPr>
                </a:tc>
                <a:tc>
                  <a:txBody>
                    <a:bodyPr/>
                    <a:lstStyle/>
                    <a:p>
                      <a:r>
                        <a:rPr sz="1400" b="0">
                          <a:solidFill>
                            <a:srgbClr val="29252A"/>
                          </a:solidFill>
                          <a:latin typeface="Arial"/>
                        </a:rPr>
                        <a:t>Pricing rules, quotes, premium overrides</a:t>
                      </a:r>
                    </a:p>
                  </a:txBody>
                  <a:tcPr marT="36576" marB="36576">
                    <a:solidFill>
                      <a:srgbClr val="FFFFFF"/>
                    </a:solidFill>
                  </a:tcPr>
                </a:tc>
                <a:extLst>
                  <a:ext uri="{0D108BD9-81ED-4DB2-BD59-A6C34878D82A}">
                    <a16:rowId xmlns:a16="http://schemas.microsoft.com/office/drawing/2014/main" val="10003"/>
                  </a:ext>
                </a:extLst>
              </a:tr>
              <a:tr h="530352">
                <a:tc>
                  <a:txBody>
                    <a:bodyPr/>
                    <a:lstStyle/>
                    <a:p>
                      <a:r>
                        <a:rPr sz="1400" b="1">
                          <a:solidFill>
                            <a:srgbClr val="29252A"/>
                          </a:solidFill>
                          <a:latin typeface="Arial"/>
                        </a:rPr>
                        <a:t>Monitoring</a:t>
                      </a:r>
                    </a:p>
                  </a:txBody>
                  <a:tcPr marT="36576" marB="36576">
                    <a:solidFill>
                      <a:srgbClr val="F4F1F3"/>
                    </a:solidFill>
                  </a:tcPr>
                </a:tc>
                <a:tc>
                  <a:txBody>
                    <a:bodyPr/>
                    <a:lstStyle/>
                    <a:p>
                      <a:r>
                        <a:rPr sz="1400" b="0">
                          <a:solidFill>
                            <a:srgbClr val="29252A"/>
                          </a:solidFill>
                          <a:latin typeface="Arial"/>
                        </a:rPr>
                        <a:t>8084</a:t>
                      </a:r>
                    </a:p>
                  </a:txBody>
                  <a:tcPr marT="36576" marB="36576">
                    <a:solidFill>
                      <a:srgbClr val="F4F1F3"/>
                    </a:solidFill>
                  </a:tcPr>
                </a:tc>
                <a:tc>
                  <a:txBody>
                    <a:bodyPr/>
                    <a:lstStyle/>
                    <a:p>
                      <a:r>
                        <a:rPr sz="1400" b="0">
                          <a:solidFill>
                            <a:srgbClr val="29252A"/>
                          </a:solidFill>
                          <a:latin typeface="Arial"/>
                        </a:rPr>
                        <a:t>Providers and outage events</a:t>
                      </a:r>
                    </a:p>
                  </a:txBody>
                  <a:tcPr marT="36576" marB="36576">
                    <a:solidFill>
                      <a:srgbClr val="F4F1F3"/>
                    </a:solidFill>
                  </a:tcPr>
                </a:tc>
                <a:extLst>
                  <a:ext uri="{0D108BD9-81ED-4DB2-BD59-A6C34878D82A}">
                    <a16:rowId xmlns:a16="http://schemas.microsoft.com/office/drawing/2014/main" val="10004"/>
                  </a:ext>
                </a:extLst>
              </a:tr>
              <a:tr h="530352">
                <a:tc>
                  <a:txBody>
                    <a:bodyPr/>
                    <a:lstStyle/>
                    <a:p>
                      <a:r>
                        <a:rPr sz="1400" b="1">
                          <a:solidFill>
                            <a:srgbClr val="29252A"/>
                          </a:solidFill>
                          <a:latin typeface="Arial"/>
                        </a:rPr>
                        <a:t>Trigger</a:t>
                      </a:r>
                    </a:p>
                  </a:txBody>
                  <a:tcPr marT="36576" marB="36576">
                    <a:solidFill>
                      <a:srgbClr val="FFFFFF"/>
                    </a:solidFill>
                  </a:tcPr>
                </a:tc>
                <a:tc>
                  <a:txBody>
                    <a:bodyPr/>
                    <a:lstStyle/>
                    <a:p>
                      <a:r>
                        <a:rPr sz="1400" b="0">
                          <a:solidFill>
                            <a:srgbClr val="29252A"/>
                          </a:solidFill>
                          <a:latin typeface="Arial"/>
                        </a:rPr>
                        <a:t>8085</a:t>
                      </a:r>
                    </a:p>
                  </a:txBody>
                  <a:tcPr marT="36576" marB="36576">
                    <a:solidFill>
                      <a:srgbClr val="FFFFFF"/>
                    </a:solidFill>
                  </a:tcPr>
                </a:tc>
                <a:tc>
                  <a:txBody>
                    <a:bodyPr/>
                    <a:lstStyle/>
                    <a:p>
                      <a:r>
                        <a:rPr sz="1400" b="0">
                          <a:solidFill>
                            <a:srgbClr val="29252A"/>
                          </a:solidFill>
                          <a:latin typeface="Arial"/>
                        </a:rPr>
                        <a:t>Evaluate outages, create eligible claims</a:t>
                      </a:r>
                    </a:p>
                  </a:txBody>
                  <a:tcPr marT="36576" marB="36576">
                    <a:solidFill>
                      <a:srgbClr val="FFFFFF"/>
                    </a:solidFill>
                  </a:tcPr>
                </a:tc>
                <a:extLst>
                  <a:ext uri="{0D108BD9-81ED-4DB2-BD59-A6C34878D82A}">
                    <a16:rowId xmlns:a16="http://schemas.microsoft.com/office/drawing/2014/main" val="10005"/>
                  </a:ext>
                </a:extLst>
              </a:tr>
              <a:tr h="530352">
                <a:tc>
                  <a:txBody>
                    <a:bodyPr/>
                    <a:lstStyle/>
                    <a:p>
                      <a:r>
                        <a:rPr sz="1400" b="1">
                          <a:solidFill>
                            <a:srgbClr val="29252A"/>
                          </a:solidFill>
                          <a:latin typeface="Arial"/>
                        </a:rPr>
                        <a:t>Settlement</a:t>
                      </a:r>
                    </a:p>
                  </a:txBody>
                  <a:tcPr marT="36576" marB="36576">
                    <a:solidFill>
                      <a:srgbClr val="F4F1F3"/>
                    </a:solidFill>
                  </a:tcPr>
                </a:tc>
                <a:tc>
                  <a:txBody>
                    <a:bodyPr/>
                    <a:lstStyle/>
                    <a:p>
                      <a:r>
                        <a:rPr sz="1400" b="0">
                          <a:solidFill>
                            <a:srgbClr val="29252A"/>
                          </a:solidFill>
                          <a:latin typeface="Arial"/>
                        </a:rPr>
                        <a:t>8086</a:t>
                      </a:r>
                    </a:p>
                  </a:txBody>
                  <a:tcPr marT="36576" marB="36576">
                    <a:solidFill>
                      <a:srgbClr val="F4F1F3"/>
                    </a:solidFill>
                  </a:tcPr>
                </a:tc>
                <a:tc>
                  <a:txBody>
                    <a:bodyPr/>
                    <a:lstStyle/>
                    <a:p>
                      <a:r>
                        <a:rPr sz="1400" b="0">
                          <a:solidFill>
                            <a:srgbClr val="29252A"/>
                          </a:solidFill>
                          <a:latin typeface="Arial"/>
                        </a:rPr>
                        <a:t>Validate, approve, audit, complete settlements</a:t>
                      </a:r>
                    </a:p>
                  </a:txBody>
                  <a:tcPr marT="36576" marB="36576">
                    <a:solidFill>
                      <a:srgbClr val="F4F1F3"/>
                    </a:solidFill>
                  </a:tcPr>
                </a:tc>
                <a:extLst>
                  <a:ext uri="{0D108BD9-81ED-4DB2-BD59-A6C34878D82A}">
                    <a16:rowId xmlns:a16="http://schemas.microsoft.com/office/drawing/2014/main" val="10006"/>
                  </a:ext>
                </a:extLst>
              </a:tr>
              <a:tr h="530352">
                <a:tc>
                  <a:txBody>
                    <a:bodyPr/>
                    <a:lstStyle/>
                    <a:p>
                      <a:r>
                        <a:rPr sz="1400" b="1">
                          <a:solidFill>
                            <a:srgbClr val="29252A"/>
                          </a:solidFill>
                          <a:latin typeface="Arial"/>
                        </a:rPr>
                        <a:t>Notification</a:t>
                      </a:r>
                    </a:p>
                  </a:txBody>
                  <a:tcPr marT="36576" marB="36576">
                    <a:solidFill>
                      <a:srgbClr val="FFFFFF"/>
                    </a:solidFill>
                  </a:tcPr>
                </a:tc>
                <a:tc>
                  <a:txBody>
                    <a:bodyPr/>
                    <a:lstStyle/>
                    <a:p>
                      <a:r>
                        <a:rPr sz="1400" b="0">
                          <a:solidFill>
                            <a:srgbClr val="29252A"/>
                          </a:solidFill>
                          <a:latin typeface="Arial"/>
                        </a:rPr>
                        <a:t>8087</a:t>
                      </a:r>
                    </a:p>
                  </a:txBody>
                  <a:tcPr marT="36576" marB="36576">
                    <a:solidFill>
                      <a:srgbClr val="FFFFFF"/>
                    </a:solidFill>
                  </a:tcPr>
                </a:tc>
                <a:tc>
                  <a:txBody>
                    <a:bodyPr/>
                    <a:lstStyle/>
                    <a:p>
                      <a:r>
                        <a:rPr sz="1400" b="0">
                          <a:solidFill>
                            <a:srgbClr val="29252A"/>
                          </a:solidFill>
                          <a:latin typeface="Arial"/>
                        </a:rPr>
                        <a:t>Create and store notifications</a:t>
                      </a:r>
                    </a:p>
                  </a:txBody>
                  <a:tcPr marT="36576" marB="36576">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47472"/>
            <a:ext cx="10789920" cy="548640"/>
          </a:xfrm>
        </p:spPr>
        <p:txBody>
          <a:bodyPr anchor="ctr"/>
          <a:lstStyle/>
          <a:p>
            <a:pPr algn="l"/>
            <a:r>
              <a:rPr sz="2800" b="1">
                <a:solidFill>
                  <a:srgbClr val="75013F"/>
                </a:solidFill>
                <a:latin typeface="Arial"/>
              </a:rPr>
              <a:t>Backup: Database Design</a:t>
            </a:r>
          </a:p>
        </p:txBody>
      </p:sp>
      <p:sp>
        <p:nvSpPr>
          <p:cNvPr id="3" name="Rectangle 2"/>
          <p:cNvSpPr/>
          <p:nvPr/>
        </p:nvSpPr>
        <p:spPr>
          <a:xfrm>
            <a:off x="0" y="0"/>
            <a:ext cx="12191695" cy="109728"/>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4" name="Rectangle 3"/>
          <p:cNvSpPr/>
          <p:nvPr/>
        </p:nvSpPr>
        <p:spPr>
          <a:xfrm>
            <a:off x="548640" y="411480"/>
            <a:ext cx="82296" cy="731520"/>
          </a:xfrm>
          <a:prstGeom prst="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5" name="Rectangle 4"/>
          <p:cNvSpPr/>
          <p:nvPr/>
        </p:nvSpPr>
        <p:spPr>
          <a:xfrm>
            <a:off x="731520" y="868680"/>
            <a:ext cx="10789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0">
                <a:solidFill>
                  <a:srgbClr val="6B5A64"/>
                </a:solidFill>
                <a:latin typeface="Arial"/>
              </a:rPr>
              <a:t>One database per service; keys only inside a database</a:t>
            </a:r>
          </a:p>
        </p:txBody>
      </p:sp>
      <p:sp>
        <p:nvSpPr>
          <p:cNvPr id="6" name="Rectangle 5"/>
          <p:cNvSpPr/>
          <p:nvPr/>
        </p:nvSpPr>
        <p:spPr>
          <a:xfrm>
            <a:off x="0" y="6446520"/>
            <a:ext cx="12191695" cy="411480"/>
          </a:xfrm>
          <a:prstGeom prst="rect">
            <a:avLst/>
          </a:prstGeom>
          <a:solidFill>
            <a:srgbClr val="F4F1F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7" name="Rectangle 6"/>
          <p:cNvSpPr/>
          <p:nvPr/>
        </p:nvSpPr>
        <p:spPr>
          <a:xfrm>
            <a:off x="548640" y="6492240"/>
            <a:ext cx="82296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000" b="0">
                <a:solidFill>
                  <a:srgbClr val="6B5A64"/>
                </a:solidFill>
                <a:latin typeface="Arial"/>
              </a:rPr>
              <a:t>UptimeShield  |  Parametric Business-Interruption Insurance Platform</a:t>
            </a:r>
          </a:p>
        </p:txBody>
      </p:sp>
      <p:sp>
        <p:nvSpPr>
          <p:cNvPr id="8" name="Rectangle 7"/>
          <p:cNvSpPr/>
          <p:nvPr/>
        </p:nvSpPr>
        <p:spPr>
          <a:xfrm>
            <a:off x="10881360" y="6492240"/>
            <a:ext cx="8229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r"/>
            <a:r>
              <a:rPr sz="1000" b="1">
                <a:solidFill>
                  <a:srgbClr val="75013F"/>
                </a:solidFill>
                <a:latin typeface="Arial"/>
              </a:rPr>
              <a:t>11</a:t>
            </a:r>
          </a:p>
        </p:txBody>
      </p:sp>
      <p:pic>
        <p:nvPicPr>
          <p:cNvPr id="9" name="Picture 8" descr="shield.png"/>
          <p:cNvPicPr>
            <a:picLocks noChangeAspect="1"/>
          </p:cNvPicPr>
          <p:nvPr/>
        </p:nvPicPr>
        <p:blipFill>
          <a:blip r:embed="rId3"/>
          <a:stretch>
            <a:fillRect/>
          </a:stretch>
        </p:blipFill>
        <p:spPr>
          <a:xfrm>
            <a:off x="11109960" y="320040"/>
            <a:ext cx="685800" cy="685800"/>
          </a:xfrm>
          <a:prstGeom prst="rect">
            <a:avLst/>
          </a:prstGeom>
        </p:spPr>
      </p:pic>
      <p:pic>
        <p:nvPicPr>
          <p:cNvPr id="10" name="Picture 9" descr="er_overview.png"/>
          <p:cNvPicPr>
            <a:picLocks noChangeAspect="1"/>
          </p:cNvPicPr>
          <p:nvPr/>
        </p:nvPicPr>
        <p:blipFill>
          <a:blip r:embed="rId4"/>
          <a:stretch>
            <a:fillRect/>
          </a:stretch>
        </p:blipFill>
        <p:spPr>
          <a:xfrm>
            <a:off x="731520" y="1463040"/>
            <a:ext cx="7315200" cy="3674498"/>
          </a:xfrm>
          <a:prstGeom prst="rect">
            <a:avLst/>
          </a:prstGeom>
        </p:spPr>
      </p:pic>
      <p:sp>
        <p:nvSpPr>
          <p:cNvPr id="11" name="Rectangle 10"/>
          <p:cNvSpPr/>
          <p:nvPr/>
        </p:nvSpPr>
        <p:spPr>
          <a:xfrm>
            <a:off x="8412480" y="1463040"/>
            <a:ext cx="3108960" cy="438912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sz="1300" b="0">
                <a:solidFill>
                  <a:srgbClr val="29252A"/>
                </a:solidFill>
                <a:latin typeface="Arial"/>
              </a:rPr>
              <a:t>policydb</a:t>
            </a:r>
          </a:p>
          <a:p>
            <a:pPr algn="l"/>
            <a:r>
              <a:rPr sz="1300" b="0">
                <a:solidFill>
                  <a:srgbClr val="29252A"/>
                </a:solidFill>
                <a:latin typeface="Arial"/>
              </a:rPr>
              <a:t>underwritingdb</a:t>
            </a:r>
          </a:p>
          <a:p>
            <a:pPr algn="l"/>
            <a:r>
              <a:rPr sz="1300" b="0">
                <a:solidFill>
                  <a:srgbClr val="29252A"/>
                </a:solidFill>
                <a:latin typeface="Arial"/>
              </a:rPr>
              <a:t>monitoringdb</a:t>
            </a:r>
          </a:p>
          <a:p>
            <a:pPr algn="l"/>
            <a:r>
              <a:rPr sz="1300" b="0">
                <a:solidFill>
                  <a:srgbClr val="29252A"/>
                </a:solidFill>
                <a:latin typeface="Arial"/>
              </a:rPr>
              <a:t>triggerdb</a:t>
            </a:r>
          </a:p>
          <a:p>
            <a:pPr algn="l"/>
            <a:r>
              <a:rPr sz="1300" b="0">
                <a:solidFill>
                  <a:srgbClr val="29252A"/>
                </a:solidFill>
                <a:latin typeface="Arial"/>
              </a:rPr>
              <a:t>settlementdb</a:t>
            </a:r>
          </a:p>
          <a:p>
            <a:pPr algn="l"/>
            <a:r>
              <a:rPr sz="1300" b="0">
                <a:solidFill>
                  <a:srgbClr val="29252A"/>
                </a:solidFill>
                <a:latin typeface="Arial"/>
              </a:rPr>
              <a:t>notificationdb</a:t>
            </a:r>
          </a:p>
          <a:p>
            <a:pPr algn="l"/>
            <a:endParaRPr sz="1300" b="0">
              <a:solidFill>
                <a:srgbClr val="29252A"/>
              </a:solidFill>
              <a:latin typeface="Arial"/>
            </a:endParaRPr>
          </a:p>
          <a:p>
            <a:pPr algn="l"/>
            <a:r>
              <a:rPr sz="1300" b="0">
                <a:solidFill>
                  <a:srgbClr val="29252A"/>
                </a:solidFill>
                <a:latin typeface="Arial"/>
              </a:rPr>
              <a:t>Links between services are IDs, not foreign keys.</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47472"/>
            <a:ext cx="10789920" cy="548640"/>
          </a:xfrm>
        </p:spPr>
        <p:txBody>
          <a:bodyPr anchor="ctr"/>
          <a:lstStyle/>
          <a:p>
            <a:pPr algn="l"/>
            <a:r>
              <a:rPr sz="2800" b="1">
                <a:solidFill>
                  <a:srgbClr val="75013F"/>
                </a:solidFill>
                <a:latin typeface="Arial"/>
              </a:rPr>
              <a:t>Backup: Security and Quality</a:t>
            </a:r>
          </a:p>
        </p:txBody>
      </p:sp>
      <p:sp>
        <p:nvSpPr>
          <p:cNvPr id="3" name="Rectangle 2"/>
          <p:cNvSpPr/>
          <p:nvPr/>
        </p:nvSpPr>
        <p:spPr>
          <a:xfrm>
            <a:off x="0" y="0"/>
            <a:ext cx="12191695" cy="109728"/>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4" name="Rectangle 3"/>
          <p:cNvSpPr/>
          <p:nvPr/>
        </p:nvSpPr>
        <p:spPr>
          <a:xfrm>
            <a:off x="548640" y="411480"/>
            <a:ext cx="82296" cy="731520"/>
          </a:xfrm>
          <a:prstGeom prst="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5" name="Rectangle 4"/>
          <p:cNvSpPr/>
          <p:nvPr/>
        </p:nvSpPr>
        <p:spPr>
          <a:xfrm>
            <a:off x="731520" y="868680"/>
            <a:ext cx="10789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0">
                <a:solidFill>
                  <a:srgbClr val="6B5A64"/>
                </a:solidFill>
                <a:latin typeface="Arial"/>
              </a:rPr>
              <a:t>Login, roles, tests and monitoring</a:t>
            </a:r>
          </a:p>
        </p:txBody>
      </p:sp>
      <p:sp>
        <p:nvSpPr>
          <p:cNvPr id="6" name="Rectangle 5"/>
          <p:cNvSpPr/>
          <p:nvPr/>
        </p:nvSpPr>
        <p:spPr>
          <a:xfrm>
            <a:off x="0" y="6446520"/>
            <a:ext cx="12191695" cy="411480"/>
          </a:xfrm>
          <a:prstGeom prst="rect">
            <a:avLst/>
          </a:prstGeom>
          <a:solidFill>
            <a:srgbClr val="F4F1F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7" name="Rectangle 6"/>
          <p:cNvSpPr/>
          <p:nvPr/>
        </p:nvSpPr>
        <p:spPr>
          <a:xfrm>
            <a:off x="548640" y="6492240"/>
            <a:ext cx="82296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000" b="0">
                <a:solidFill>
                  <a:srgbClr val="6B5A64"/>
                </a:solidFill>
                <a:latin typeface="Arial"/>
              </a:rPr>
              <a:t>UptimeShield  |  Parametric Business-Interruption Insurance Platform</a:t>
            </a:r>
          </a:p>
        </p:txBody>
      </p:sp>
      <p:sp>
        <p:nvSpPr>
          <p:cNvPr id="8" name="Rectangle 7"/>
          <p:cNvSpPr/>
          <p:nvPr/>
        </p:nvSpPr>
        <p:spPr>
          <a:xfrm>
            <a:off x="10881360" y="6492240"/>
            <a:ext cx="8229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r"/>
            <a:r>
              <a:rPr sz="1000" b="1">
                <a:solidFill>
                  <a:srgbClr val="75013F"/>
                </a:solidFill>
                <a:latin typeface="Arial"/>
              </a:rPr>
              <a:t>12</a:t>
            </a:r>
          </a:p>
        </p:txBody>
      </p:sp>
      <p:pic>
        <p:nvPicPr>
          <p:cNvPr id="9" name="Picture 8" descr="shield.png"/>
          <p:cNvPicPr>
            <a:picLocks noChangeAspect="1"/>
          </p:cNvPicPr>
          <p:nvPr/>
        </p:nvPicPr>
        <p:blipFill>
          <a:blip r:embed="rId3"/>
          <a:stretch>
            <a:fillRect/>
          </a:stretch>
        </p:blipFill>
        <p:spPr>
          <a:xfrm>
            <a:off x="11109960" y="320040"/>
            <a:ext cx="685800" cy="685800"/>
          </a:xfrm>
          <a:prstGeom prst="rect">
            <a:avLst/>
          </a:prstGeom>
        </p:spPr>
      </p:pic>
      <p:sp>
        <p:nvSpPr>
          <p:cNvPr id="10" name="Rectangle 9"/>
          <p:cNvSpPr/>
          <p:nvPr/>
        </p:nvSpPr>
        <p:spPr>
          <a:xfrm>
            <a:off x="731520" y="1463040"/>
            <a:ext cx="5212080" cy="2103120"/>
          </a:xfrm>
          <a:prstGeom prst="rect">
            <a:avLst/>
          </a:prstGeom>
          <a:solidFill>
            <a:srgbClr val="FFFFFF"/>
          </a:solidFill>
          <a:ln w="12700">
            <a:solidFill>
              <a:srgbClr val="D9CFD5"/>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1" name="Rectangle 10"/>
          <p:cNvSpPr/>
          <p:nvPr/>
        </p:nvSpPr>
        <p:spPr>
          <a:xfrm>
            <a:off x="731520" y="1463040"/>
            <a:ext cx="5212080" cy="91440"/>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2" name="Rectangle 11"/>
          <p:cNvSpPr/>
          <p:nvPr/>
        </p:nvSpPr>
        <p:spPr>
          <a:xfrm>
            <a:off x="868680" y="1645920"/>
            <a:ext cx="4937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800" b="1">
                <a:solidFill>
                  <a:srgbClr val="75013F"/>
                </a:solidFill>
                <a:latin typeface="Arial"/>
              </a:rPr>
              <a:t>Security</a:t>
            </a:r>
          </a:p>
        </p:txBody>
      </p:sp>
      <p:sp>
        <p:nvSpPr>
          <p:cNvPr id="13" name="Rectangle 12"/>
          <p:cNvSpPr/>
          <p:nvPr/>
        </p:nvSpPr>
        <p:spPr>
          <a:xfrm>
            <a:off x="868680" y="2240280"/>
            <a:ext cx="4937760" cy="12344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sz="1400" b="0">
                <a:solidFill>
                  <a:srgbClr val="29252A"/>
                </a:solidFill>
                <a:latin typeface="Arial"/>
              </a:rPr>
              <a:t>JWT issued at login and checked by the Gateway. Six roles defined: business owner, underwriter, monitoring operator, claims officer, settlement officer, admin.</a:t>
            </a:r>
          </a:p>
        </p:txBody>
      </p:sp>
      <p:sp>
        <p:nvSpPr>
          <p:cNvPr id="14" name="Rectangle 13"/>
          <p:cNvSpPr/>
          <p:nvPr/>
        </p:nvSpPr>
        <p:spPr>
          <a:xfrm>
            <a:off x="6309360" y="1463040"/>
            <a:ext cx="5212080" cy="2103120"/>
          </a:xfrm>
          <a:prstGeom prst="rect">
            <a:avLst/>
          </a:prstGeom>
          <a:solidFill>
            <a:srgbClr val="FFFFFF"/>
          </a:solidFill>
          <a:ln w="12700">
            <a:solidFill>
              <a:srgbClr val="D9CFD5"/>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5" name="Rectangle 14"/>
          <p:cNvSpPr/>
          <p:nvPr/>
        </p:nvSpPr>
        <p:spPr>
          <a:xfrm>
            <a:off x="6309360" y="1463040"/>
            <a:ext cx="5212080" cy="91440"/>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16" name="Rectangle 15"/>
          <p:cNvSpPr/>
          <p:nvPr/>
        </p:nvSpPr>
        <p:spPr>
          <a:xfrm>
            <a:off x="6446520" y="1645920"/>
            <a:ext cx="49377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800" b="1">
                <a:solidFill>
                  <a:srgbClr val="75013F"/>
                </a:solidFill>
                <a:latin typeface="Arial"/>
              </a:rPr>
              <a:t>Quality and monitoring</a:t>
            </a:r>
          </a:p>
        </p:txBody>
      </p:sp>
      <p:sp>
        <p:nvSpPr>
          <p:cNvPr id="17" name="Rectangle 16"/>
          <p:cNvSpPr/>
          <p:nvPr/>
        </p:nvSpPr>
        <p:spPr>
          <a:xfrm>
            <a:off x="6446520" y="2240280"/>
            <a:ext cx="4937760" cy="123443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sz="1400" b="0">
                <a:solidFill>
                  <a:srgbClr val="29252A"/>
                </a:solidFill>
                <a:latin typeface="Arial"/>
              </a:rPr>
              <a:t>JUnit 5, Mockito and StepVerifier tests; repository tests with H2; Actuator health, metrics and logs; Eureka dashboard.</a:t>
            </a:r>
          </a:p>
        </p:txBody>
      </p:sp>
      <p:sp>
        <p:nvSpPr>
          <p:cNvPr id="18" name="Rectangle 17"/>
          <p:cNvSpPr/>
          <p:nvPr/>
        </p:nvSpPr>
        <p:spPr>
          <a:xfrm>
            <a:off x="731520" y="3931920"/>
            <a:ext cx="10789920" cy="1463040"/>
          </a:xfrm>
          <a:prstGeom prst="rect">
            <a:avLst/>
          </a:prstGeom>
          <a:solidFill>
            <a:srgbClr val="F8E7E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800" b="1" dirty="0">
                <a:solidFill>
                  <a:srgbClr val="75013F"/>
                </a:solidFill>
                <a:latin typeface="Arial"/>
              </a:rPr>
              <a:t>Safe payouts: duration and threshold are fetched on the server, never trusted from the client. Duplicate settlements are blocked.</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347472"/>
            <a:ext cx="10789920" cy="548640"/>
          </a:xfrm>
        </p:spPr>
        <p:txBody>
          <a:bodyPr anchor="ctr"/>
          <a:lstStyle/>
          <a:p>
            <a:pPr algn="l"/>
            <a:r>
              <a:rPr sz="2800" b="1">
                <a:solidFill>
                  <a:srgbClr val="75013F"/>
                </a:solidFill>
                <a:latin typeface="Arial"/>
              </a:rPr>
              <a:t>The Product</a:t>
            </a:r>
          </a:p>
        </p:txBody>
      </p:sp>
      <p:sp>
        <p:nvSpPr>
          <p:cNvPr id="3" name="Rectangle 2"/>
          <p:cNvSpPr/>
          <p:nvPr/>
        </p:nvSpPr>
        <p:spPr>
          <a:xfrm>
            <a:off x="0" y="0"/>
            <a:ext cx="12191695" cy="109728"/>
          </a:xfrm>
          <a:prstGeom prst="rect">
            <a:avLst/>
          </a:prstGeom>
          <a:solidFill>
            <a:srgbClr val="75013F"/>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4" name="Rectangle 3"/>
          <p:cNvSpPr/>
          <p:nvPr/>
        </p:nvSpPr>
        <p:spPr>
          <a:xfrm>
            <a:off x="548640" y="411480"/>
            <a:ext cx="82296" cy="731520"/>
          </a:xfrm>
          <a:prstGeom prst="rect">
            <a:avLst/>
          </a:prstGeom>
          <a:solidFill>
            <a:srgbClr val="FE3082"/>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5" name="Rectangle 4"/>
          <p:cNvSpPr/>
          <p:nvPr/>
        </p:nvSpPr>
        <p:spPr>
          <a:xfrm>
            <a:off x="731520" y="868680"/>
            <a:ext cx="107899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400" b="0">
                <a:solidFill>
                  <a:srgbClr val="6B5A64"/>
                </a:solidFill>
                <a:latin typeface="Arial"/>
              </a:rPr>
              <a:t>What the user sees</a:t>
            </a:r>
          </a:p>
        </p:txBody>
      </p:sp>
      <p:sp>
        <p:nvSpPr>
          <p:cNvPr id="6" name="Rectangle 5"/>
          <p:cNvSpPr/>
          <p:nvPr/>
        </p:nvSpPr>
        <p:spPr>
          <a:xfrm>
            <a:off x="0" y="6446520"/>
            <a:ext cx="12191695" cy="411480"/>
          </a:xfrm>
          <a:prstGeom prst="rect">
            <a:avLst/>
          </a:prstGeom>
          <a:solidFill>
            <a:srgbClr val="F4F1F3"/>
          </a:solid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endParaRPr/>
          </a:p>
        </p:txBody>
      </p:sp>
      <p:sp>
        <p:nvSpPr>
          <p:cNvPr id="7" name="Rectangle 6"/>
          <p:cNvSpPr/>
          <p:nvPr/>
        </p:nvSpPr>
        <p:spPr>
          <a:xfrm>
            <a:off x="548640" y="6492240"/>
            <a:ext cx="82296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000" b="0">
                <a:solidFill>
                  <a:srgbClr val="6B5A64"/>
                </a:solidFill>
                <a:latin typeface="Arial"/>
              </a:rPr>
              <a:t>UptimeShield  |  Parametric Business-Interruption Insurance Platform</a:t>
            </a:r>
          </a:p>
        </p:txBody>
      </p:sp>
      <p:sp>
        <p:nvSpPr>
          <p:cNvPr id="8" name="Rectangle 7"/>
          <p:cNvSpPr/>
          <p:nvPr/>
        </p:nvSpPr>
        <p:spPr>
          <a:xfrm>
            <a:off x="10881360" y="6492240"/>
            <a:ext cx="82296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r"/>
            <a:r>
              <a:rPr sz="1000" b="1">
                <a:solidFill>
                  <a:srgbClr val="75013F"/>
                </a:solidFill>
                <a:latin typeface="Arial"/>
              </a:rPr>
              <a:t>7</a:t>
            </a:r>
          </a:p>
        </p:txBody>
      </p:sp>
      <p:pic>
        <p:nvPicPr>
          <p:cNvPr id="9" name="Picture 8" descr="shield.png"/>
          <p:cNvPicPr>
            <a:picLocks noChangeAspect="1"/>
          </p:cNvPicPr>
          <p:nvPr/>
        </p:nvPicPr>
        <p:blipFill>
          <a:blip r:embed="rId3"/>
          <a:stretch>
            <a:fillRect/>
          </a:stretch>
        </p:blipFill>
        <p:spPr>
          <a:xfrm>
            <a:off x="11109960" y="320040"/>
            <a:ext cx="685800" cy="685800"/>
          </a:xfrm>
          <a:prstGeom prst="rect">
            <a:avLst/>
          </a:prstGeom>
        </p:spPr>
      </p:pic>
      <p:sp>
        <p:nvSpPr>
          <p:cNvPr id="16" name="Rectangle 15"/>
          <p:cNvSpPr/>
          <p:nvPr/>
        </p:nvSpPr>
        <p:spPr>
          <a:xfrm>
            <a:off x="731520" y="5852160"/>
            <a:ext cx="1078992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0">
                <a:solidFill>
                  <a:srgbClr val="6B5A64"/>
                </a:solidFill>
                <a:latin typeface="Arial"/>
              </a:rPr>
              <a:t>Edit these captions to match your screenshots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1539</Words>
  <Application>Microsoft Office PowerPoint</Application>
  <PresentationFormat>Widescreen</PresentationFormat>
  <Paragraphs>150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 Problem Statement</vt:lpstr>
      <vt:lpstr>Objectives</vt:lpstr>
      <vt:lpstr>Our Solution:  UptimeShield</vt:lpstr>
      <vt:lpstr>How It Works: Business Flow</vt:lpstr>
      <vt:lpstr>System Architecture</vt:lpstr>
      <vt:lpstr>How We Built It</vt:lpstr>
      <vt:lpstr>Backup: How a Payout Is Decided</vt:lpstr>
      <vt:lpstr>Backup: Microservices</vt:lpstr>
      <vt:lpstr>Backup: Database Design</vt:lpstr>
      <vt:lpstr>Backup: Security and Quality</vt:lpstr>
      <vt:lpstr>The Product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Shiguftha SK</cp:lastModifiedBy>
  <cp:revision>2</cp:revision>
  <dcterms:created xsi:type="dcterms:W3CDTF">2013-01-27T09:14:16Z</dcterms:created>
  <dcterms:modified xsi:type="dcterms:W3CDTF">2026-10-19T16:56:52Z</dcterms:modified>
  <cp:category/>
</cp:coreProperties>
</file>